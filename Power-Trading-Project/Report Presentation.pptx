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1" r:id="rId9"/>
    <p:sldId id="262" r:id="rId10"/>
    <p:sldId id="267" r:id="rId11"/>
    <p:sldId id="263" r:id="rId12"/>
    <p:sldId id="268" r:id="rId13"/>
    <p:sldId id="264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70">
          <p15:clr>
            <a:srgbClr val="9AA0A6"/>
          </p15:clr>
        </p15:guide>
        <p15:guide id="2" pos="5868">
          <p15:clr>
            <a:srgbClr val="9AA0A6"/>
          </p15:clr>
        </p15:guide>
        <p15:guide id="3" orient="horz" pos="157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hXQ1N1MafN4fY+Bs9ldogAdiZ6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78"/>
      </p:cViewPr>
      <p:guideLst>
        <p:guide orient="horz" pos="1570"/>
        <p:guide pos="5868"/>
        <p:guide orient="horz" pos="15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3a8d4be09_2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Change </a:t>
            </a:r>
            <a:endParaRPr/>
          </a:p>
        </p:txBody>
      </p:sp>
      <p:sp>
        <p:nvSpPr>
          <p:cNvPr id="79" name="Google Shape;79;gf3a8d4be09_2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3a8d4be09_2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gf3a8d4be09_2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D7966E13-5484-EE00-D2FE-5864B97DB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:notes">
            <a:extLst>
              <a:ext uri="{FF2B5EF4-FFF2-40B4-BE49-F238E27FC236}">
                <a16:creationId xmlns:a16="http://schemas.microsoft.com/office/drawing/2014/main" id="{CB1C9F71-0B0D-DF6B-0799-BB627141CA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5:notes">
            <a:extLst>
              <a:ext uri="{FF2B5EF4-FFF2-40B4-BE49-F238E27FC236}">
                <a16:creationId xmlns:a16="http://schemas.microsoft.com/office/drawing/2014/main" id="{0A40BCE3-6702-8D8F-6C92-63D9096326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861396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CB04784D-3D71-B3E8-BFDF-07CA09302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:notes">
            <a:extLst>
              <a:ext uri="{FF2B5EF4-FFF2-40B4-BE49-F238E27FC236}">
                <a16:creationId xmlns:a16="http://schemas.microsoft.com/office/drawing/2014/main" id="{271F04A0-AD17-6A8E-42FD-96EAA57667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5:notes">
            <a:extLst>
              <a:ext uri="{FF2B5EF4-FFF2-40B4-BE49-F238E27FC236}">
                <a16:creationId xmlns:a16="http://schemas.microsoft.com/office/drawing/2014/main" id="{70469ACD-BE62-0B98-734C-5F4CEE42F0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65338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EDA is used for </a:t>
            </a:r>
            <a:r>
              <a:rPr lang="en-US" sz="1200" b="1"/>
              <a:t>seeing what the data can tell us before the modeling task</a:t>
            </a:r>
            <a:r>
              <a:rPr lang="en-US" sz="1200"/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Change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Keep observations </a:t>
            </a:r>
            <a:endParaRPr/>
          </a:p>
        </p:txBody>
      </p:sp>
      <p:sp>
        <p:nvSpPr>
          <p:cNvPr id="126" name="Google Shape;126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25FA4B20-E2FA-6A5F-280C-0B62F92B3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:notes">
            <a:extLst>
              <a:ext uri="{FF2B5EF4-FFF2-40B4-BE49-F238E27FC236}">
                <a16:creationId xmlns:a16="http://schemas.microsoft.com/office/drawing/2014/main" id="{2FC0C81D-9377-A12F-84CE-B08E822171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30:notes">
            <a:extLst>
              <a:ext uri="{FF2B5EF4-FFF2-40B4-BE49-F238E27FC236}">
                <a16:creationId xmlns:a16="http://schemas.microsoft.com/office/drawing/2014/main" id="{F43CEF8A-080D-B40E-F7BE-A3963CCEE3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Keep observations </a:t>
            </a:r>
            <a:endParaRPr/>
          </a:p>
        </p:txBody>
      </p:sp>
      <p:sp>
        <p:nvSpPr>
          <p:cNvPr id="126" name="Google Shape;126;p30:notes">
            <a:extLst>
              <a:ext uri="{FF2B5EF4-FFF2-40B4-BE49-F238E27FC236}">
                <a16:creationId xmlns:a16="http://schemas.microsoft.com/office/drawing/2014/main" id="{72F59D24-72D3-3926-EF49-57F6C4C18B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5538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Add graphical </a:t>
            </a:r>
            <a:endParaRPr/>
          </a:p>
        </p:txBody>
      </p:sp>
      <p:sp>
        <p:nvSpPr>
          <p:cNvPr id="134" name="Google Shape;13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8E79B0E4-0049-73F1-AD53-A4E7325B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:notes">
            <a:extLst>
              <a:ext uri="{FF2B5EF4-FFF2-40B4-BE49-F238E27FC236}">
                <a16:creationId xmlns:a16="http://schemas.microsoft.com/office/drawing/2014/main" id="{E1F9A081-2463-A66A-9862-6F62F74E0C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32:notes">
            <a:extLst>
              <a:ext uri="{FF2B5EF4-FFF2-40B4-BE49-F238E27FC236}">
                <a16:creationId xmlns:a16="http://schemas.microsoft.com/office/drawing/2014/main" id="{0A439FA0-DCFB-B666-FEBC-C4BE59CBD0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Add graphical </a:t>
            </a:r>
            <a:endParaRPr/>
          </a:p>
        </p:txBody>
      </p:sp>
      <p:sp>
        <p:nvSpPr>
          <p:cNvPr id="134" name="Google Shape;134;p32:notes">
            <a:extLst>
              <a:ext uri="{FF2B5EF4-FFF2-40B4-BE49-F238E27FC236}">
                <a16:creationId xmlns:a16="http://schemas.microsoft.com/office/drawing/2014/main" id="{07AD832B-EC76-C4A5-8C0F-29C95A8896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66216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f3a8d4be09_2_86"/>
          <p:cNvSpPr/>
          <p:nvPr/>
        </p:nvSpPr>
        <p:spPr>
          <a:xfrm>
            <a:off x="0" y="3"/>
            <a:ext cx="12192000" cy="819300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gf3a8d4be09_2_86"/>
          <p:cNvSpPr txBox="1">
            <a:spLocks noGrp="1"/>
          </p:cNvSpPr>
          <p:nvPr>
            <p:ph type="title"/>
          </p:nvPr>
        </p:nvSpPr>
        <p:spPr>
          <a:xfrm>
            <a:off x="228600" y="187044"/>
            <a:ext cx="10515600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f3a8d4be09_2_86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gf3a8d4be09_2_86"/>
          <p:cNvCxnSpPr/>
          <p:nvPr/>
        </p:nvCxnSpPr>
        <p:spPr>
          <a:xfrm>
            <a:off x="0" y="6457951"/>
            <a:ext cx="960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6_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1"/>
          <p:cNvSpPr/>
          <p:nvPr/>
        </p:nvSpPr>
        <p:spPr>
          <a:xfrm>
            <a:off x="0" y="13"/>
            <a:ext cx="12192000" cy="819151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1"/>
          <p:cNvSpPr txBox="1">
            <a:spLocks noGrp="1"/>
          </p:cNvSpPr>
          <p:nvPr>
            <p:ph type="title"/>
          </p:nvPr>
        </p:nvSpPr>
        <p:spPr>
          <a:xfrm>
            <a:off x="228600" y="184714"/>
            <a:ext cx="10515600" cy="52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1"/>
          <p:cNvSpPr txBox="1">
            <a:spLocks noGrp="1"/>
          </p:cNvSpPr>
          <p:nvPr>
            <p:ph type="sldNum" idx="12"/>
          </p:nvPr>
        </p:nvSpPr>
        <p:spPr>
          <a:xfrm>
            <a:off x="11639552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" name="Google Shape;30;p61"/>
          <p:cNvCxnSpPr/>
          <p:nvPr/>
        </p:nvCxnSpPr>
        <p:spPr>
          <a:xfrm>
            <a:off x="13" y="6457951"/>
            <a:ext cx="96084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0"/>
          <p:cNvSpPr txBox="1">
            <a:spLocks noGrp="1"/>
          </p:cNvSpPr>
          <p:nvPr>
            <p:ph type="title"/>
          </p:nvPr>
        </p:nvSpPr>
        <p:spPr>
          <a:xfrm>
            <a:off x="831851" y="170975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0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9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body" idx="1"/>
          </p:nvPr>
        </p:nvSpPr>
        <p:spPr>
          <a:xfrm>
            <a:off x="5183188" y="98743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body" idx="2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9pPr>
          </a:lstStyle>
          <a:p>
            <a:endParaRPr/>
          </a:p>
        </p:txBody>
      </p:sp>
      <p:sp>
        <p:nvSpPr>
          <p:cNvPr id="46" name="Google Shape;46;p4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>
            <a:spLocks noGrp="1"/>
          </p:cNvSpPr>
          <p:nvPr>
            <p:ph type="pic" idx="2"/>
          </p:nvPr>
        </p:nvSpPr>
        <p:spPr>
          <a:xfrm>
            <a:off x="5183188" y="98743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45"/>
          <p:cNvSpPr txBox="1">
            <a:spLocks noGrp="1"/>
          </p:cNvSpPr>
          <p:nvPr>
            <p:ph type="body" idx="1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9pPr>
          </a:lstStyle>
          <a:p>
            <a:endParaRPr/>
          </a:p>
        </p:txBody>
      </p:sp>
      <p:sp>
        <p:nvSpPr>
          <p:cNvPr id="53" name="Google Shape;53;p4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6"/>
          <p:cNvSpPr txBox="1">
            <a:spLocks noGrp="1"/>
          </p:cNvSpPr>
          <p:nvPr>
            <p:ph type="body" idx="1"/>
          </p:nvPr>
        </p:nvSpPr>
        <p:spPr>
          <a:xfrm rot="5400000">
            <a:off x="3920333" y="-1256507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7"/>
          <p:cNvSpPr txBox="1">
            <a:spLocks noGrp="1"/>
          </p:cNvSpPr>
          <p:nvPr>
            <p:ph type="title"/>
          </p:nvPr>
        </p:nvSpPr>
        <p:spPr>
          <a:xfrm rot="5400000">
            <a:off x="7133442" y="1956595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7"/>
          <p:cNvSpPr txBox="1">
            <a:spLocks noGrp="1"/>
          </p:cNvSpPr>
          <p:nvPr>
            <p:ph type="body" idx="1"/>
          </p:nvPr>
        </p:nvSpPr>
        <p:spPr>
          <a:xfrm rot="5400000">
            <a:off x="1799442" y="-596106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4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alphaModFix amt="7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>
            <a:spLocks noGrp="1"/>
          </p:cNvSpPr>
          <p:nvPr>
            <p:ph type="title"/>
          </p:nvPr>
        </p:nvSpPr>
        <p:spPr>
          <a:xfrm>
            <a:off x="838200" y="2037351"/>
            <a:ext cx="10440000" cy="2087095"/>
          </a:xfrm>
          <a:prstGeom prst="rect">
            <a:avLst/>
          </a:prstGeom>
          <a:noFill/>
          <a:ln>
            <a:noFill/>
          </a:ln>
          <a:effectLst>
            <a:glow rad="812800">
              <a:schemeClr val="accent2">
                <a:alpha val="0"/>
              </a:schemeClr>
            </a:glow>
            <a:outerShdw blurRad="50800" dist="63500" dir="7500000" algn="t" rotWithShape="0">
              <a:schemeClr val="accent2"/>
            </a:outerShdw>
            <a:softEdge rad="1270000"/>
          </a:effectLst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72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Power Trading Forecasting Analysis </a:t>
            </a:r>
            <a:endParaRPr sz="7200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242944" y="860611"/>
            <a:ext cx="3537600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86508" y="11637873"/>
            <a:ext cx="158226" cy="163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3a8d4be09_2_180"/>
          <p:cNvSpPr txBox="1">
            <a:spLocks noGrp="1"/>
          </p:cNvSpPr>
          <p:nvPr>
            <p:ph type="title"/>
          </p:nvPr>
        </p:nvSpPr>
        <p:spPr>
          <a:xfrm>
            <a:off x="163275" y="0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gf3a8d4be09_2_180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83" name="Google Shape;83;gf3a8d4be09_2_180"/>
          <p:cNvSpPr txBox="1"/>
          <p:nvPr/>
        </p:nvSpPr>
        <p:spPr>
          <a:xfrm>
            <a:off x="383125" y="1149375"/>
            <a:ext cx="11034000" cy="28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Objective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Constraints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Architecture - Data F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Diagram</a:t>
            </a:r>
            <a:endParaRPr/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Data Analysis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gf3a8d4be09_2_180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228600" y="177814"/>
            <a:ext cx="10515600" cy="53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Business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6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372230-A9A6-473B-EEAA-BF471E7EF734}"/>
              </a:ext>
            </a:extLst>
          </p:cNvPr>
          <p:cNvSpPr txBox="1"/>
          <p:nvPr/>
        </p:nvSpPr>
        <p:spPr>
          <a:xfrm>
            <a:off x="566056" y="1110342"/>
            <a:ext cx="112558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In the power trading industry, market participants face major challenges due to fluctuating electricity prices, unpredictable demand-supply conditions, and rapidly changing market dynamics. These uncertainties increase financial risk and make it difficult to maximize profitability and operational efficiency.</a:t>
            </a:r>
          </a:p>
          <a:p>
            <a:endParaRPr lang="en-US" sz="1800" dirty="0"/>
          </a:p>
          <a:p>
            <a:r>
              <a:rPr lang="en-US" sz="1800" dirty="0"/>
              <a:t>The key challenge is to integrate multiple real-time and historical data sources — such as power demand, generation capacity, weather conditions, fuel prices, and market prices — to make accurate trading decisions. Additionally, traders must manage market volatility, forecast price movements, and optimize trading strategies in real time while minimizing risk exposure.</a:t>
            </a:r>
          </a:p>
          <a:p>
            <a:endParaRPr lang="en-US" sz="1800" dirty="0"/>
          </a:p>
          <a:p>
            <a:r>
              <a:rPr lang="en-US" sz="1800" dirty="0"/>
              <a:t>An efficient data-driven solution is required to improve forecasting accuracy, enable smarter trading decisions, reduce financial losses, and enhance overall market performance.</a:t>
            </a:r>
          </a:p>
        </p:txBody>
      </p:sp>
      <p:pic>
        <p:nvPicPr>
          <p:cNvPr id="2050" name="Picture 2" descr="Energy trading Images - Free Download on Freepik">
            <a:extLst>
              <a:ext uri="{FF2B5EF4-FFF2-40B4-BE49-F238E27FC236}">
                <a16:creationId xmlns:a16="http://schemas.microsoft.com/office/drawing/2014/main" id="{BD56C20C-1897-2155-F4DE-AA1D50244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942" y="4431528"/>
            <a:ext cx="3951516" cy="1918475"/>
          </a:xfrm>
          <a:prstGeom prst="rect">
            <a:avLst/>
          </a:prstGeom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NA Energy Unveils GNAi Platform for ...">
            <a:extLst>
              <a:ext uri="{FF2B5EF4-FFF2-40B4-BE49-F238E27FC236}">
                <a16:creationId xmlns:a16="http://schemas.microsoft.com/office/drawing/2014/main" id="{56E80DCB-7C2A-3CB6-B83F-54ABB31A7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115" y="4380292"/>
            <a:ext cx="3414429" cy="1918475"/>
          </a:xfrm>
          <a:prstGeom prst="rect">
            <a:avLst/>
          </a:prstGeom>
          <a:ln>
            <a:noFill/>
          </a:ln>
          <a:effectLst>
            <a:outerShdw blurRad="685800" dist="50800" dir="5400000" sx="1000" sy="1000" algn="ctr" rotWithShape="0">
              <a:srgbClr val="000000">
                <a:alpha val="0"/>
              </a:srgbClr>
            </a:outerShdw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3a8d4be09_2_92"/>
          <p:cNvSpPr txBox="1">
            <a:spLocks noGrp="1"/>
          </p:cNvSpPr>
          <p:nvPr>
            <p:ph type="title"/>
          </p:nvPr>
        </p:nvSpPr>
        <p:spPr>
          <a:xfrm>
            <a:off x="228600" y="191607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Project Overview and Scope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gf3a8d4be09_2_92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7" name="Google Shape;97;gf3a8d4be09_2_92"/>
          <p:cNvSpPr txBox="1"/>
          <p:nvPr/>
        </p:nvSpPr>
        <p:spPr>
          <a:xfrm>
            <a:off x="4099475" y="1187700"/>
            <a:ext cx="2164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f3a8d4be09_2_92"/>
          <p:cNvSpPr txBox="1"/>
          <p:nvPr/>
        </p:nvSpPr>
        <p:spPr>
          <a:xfrm>
            <a:off x="6053425" y="2493975"/>
            <a:ext cx="340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f3a8d4be09_2_92"/>
          <p:cNvSpPr txBox="1"/>
          <p:nvPr/>
        </p:nvSpPr>
        <p:spPr>
          <a:xfrm>
            <a:off x="5938500" y="3792975"/>
            <a:ext cx="327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f3a8d4be09_2_92"/>
          <p:cNvSpPr txBox="1"/>
          <p:nvPr/>
        </p:nvSpPr>
        <p:spPr>
          <a:xfrm>
            <a:off x="-1091900" y="2720225"/>
            <a:ext cx="388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gf3a8d4be09_2_92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ABA91C-2C09-1AA2-6D2E-A419CF6D5568}"/>
              </a:ext>
            </a:extLst>
          </p:cNvPr>
          <p:cNvSpPr txBox="1"/>
          <p:nvPr/>
        </p:nvSpPr>
        <p:spPr>
          <a:xfrm>
            <a:off x="772885" y="1187700"/>
            <a:ext cx="107224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This project focuses on developing a data-driven power trading optimization solution for a leading power and infrastructure provider. The objective is to reduce financial risks caused by electricity price volatility and demand-supply fluctuations while improving trading efficiency and profitability.</a:t>
            </a:r>
          </a:p>
          <a:p>
            <a:endParaRPr lang="en-US" sz="1800" dirty="0"/>
          </a:p>
          <a:p>
            <a:r>
              <a:rPr lang="en-US" sz="1800" dirty="0"/>
              <a:t>The solution integrates multiple data sources such as historical power prices, real-time market data, weather conditions, energy demand, and generation capacity to enable accurate forecasting and intelligent decision-making. Advanced analytics and predictive modeling techniques are used to identify market trends, forecast price movements, and optimize trading strategies in real time.</a:t>
            </a:r>
          </a:p>
          <a:p>
            <a:endParaRPr lang="en-US" sz="1800" dirty="0"/>
          </a:p>
          <a:p>
            <a:r>
              <a:rPr lang="en-US" sz="1800" dirty="0"/>
              <a:t>The project aims to help traders and utility companies minimize procurement costs, maximize trading returns, and improve operational efficiency through better risk management and data-driven insights. The expected outcome includes reduced financial exposure, optimized energy procurement, and improved profitability in power trading operations.</a:t>
            </a:r>
          </a:p>
          <a:p>
            <a:endParaRPr lang="en-IN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0" y="177790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 Data Dictionary 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5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92919" y="5896947"/>
            <a:ext cx="2277039" cy="8083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836216-4D60-884B-48AB-0CF37A170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55409"/>
              </p:ext>
            </p:extLst>
          </p:nvPr>
        </p:nvGraphicFramePr>
        <p:xfrm>
          <a:off x="223520" y="934720"/>
          <a:ext cx="11746439" cy="48598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5360">
                  <a:extLst>
                    <a:ext uri="{9D8B030D-6E8A-4147-A177-3AD203B41FA5}">
                      <a16:colId xmlns:a16="http://schemas.microsoft.com/office/drawing/2014/main" val="155323352"/>
                    </a:ext>
                  </a:extLst>
                </a:gridCol>
                <a:gridCol w="3531578">
                  <a:extLst>
                    <a:ext uri="{9D8B030D-6E8A-4147-A177-3AD203B41FA5}">
                      <a16:colId xmlns:a16="http://schemas.microsoft.com/office/drawing/2014/main" val="1102320000"/>
                    </a:ext>
                  </a:extLst>
                </a:gridCol>
                <a:gridCol w="1112595">
                  <a:extLst>
                    <a:ext uri="{9D8B030D-6E8A-4147-A177-3AD203B41FA5}">
                      <a16:colId xmlns:a16="http://schemas.microsoft.com/office/drawing/2014/main" val="477452453"/>
                    </a:ext>
                  </a:extLst>
                </a:gridCol>
                <a:gridCol w="1166086">
                  <a:extLst>
                    <a:ext uri="{9D8B030D-6E8A-4147-A177-3AD203B41FA5}">
                      <a16:colId xmlns:a16="http://schemas.microsoft.com/office/drawing/2014/main" val="1832938415"/>
                    </a:ext>
                  </a:extLst>
                </a:gridCol>
                <a:gridCol w="1850759">
                  <a:extLst>
                    <a:ext uri="{9D8B030D-6E8A-4147-A177-3AD203B41FA5}">
                      <a16:colId xmlns:a16="http://schemas.microsoft.com/office/drawing/2014/main" val="2190049516"/>
                    </a:ext>
                  </a:extLst>
                </a:gridCol>
                <a:gridCol w="1840061">
                  <a:extLst>
                    <a:ext uri="{9D8B030D-6E8A-4147-A177-3AD203B41FA5}">
                      <a16:colId xmlns:a16="http://schemas.microsoft.com/office/drawing/2014/main" val="16643124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Name Of Columns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Description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Data Type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Range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Scale Of Mesurement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Relevent / Irrelevent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1031021805"/>
                  </a:ext>
                </a:extLst>
              </a:tr>
              <a:tr h="2081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 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 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 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 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 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 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1664887199"/>
                  </a:ext>
                </a:extLst>
              </a:tr>
              <a:tr h="2081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Date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Trading date of the electricity market data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datetime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Datetime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Irrelevent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2595281079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Hour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Hour of the day (1–24) representing the trading interval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 to 24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Unitless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181336237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Time Block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Discrete time block identifier used in electricity market scheduling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datetime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Unitless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Irrelevent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2970937024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Purchase Bid (MW)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Total electricity demand bids submitted by buyers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2590.4 to 43860.3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MW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868668536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Sell Bid (MW)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Total electricity supply offers submitted by sellers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762.5 to 63406.7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MW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4166265692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MCV (MW)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Market Clearing Volume determined after matching supply and demand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762.47 to 16270.27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MW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2884623461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Final Scheduled Volume (MW)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Final electricity volume scheduled for delivery after market clearing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762.47 to 16270.27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MW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799247345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MCP (Rs/MWh) *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Market Clearing Price of electricity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49.51 to 12000.0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Rs.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2492498282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time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Timestamp corresponding to the observation in datetime format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datetime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Datetime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Irrelevent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3134396869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Mundra_temperature_2m (°C)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Ambient air temperature at 2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9.6 to 40.2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°C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4002841585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Mundra_relative_humidity_2m (%)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Relative humidity at 2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6 to 99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%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2259141566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Mundra_cloud_cover (%)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Percentage of sky covered by clouds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 to 100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%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992628319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Mundra_wind_speed_10m (km/h)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Wind speed measured at 10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0.0 to 82.5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km/h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3484507709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Mundra_shortwave_radiation (W/m²)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Incoming solar shortwave radiation at surface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 to 1017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W/m²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3542424609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RamaGundem_temperature_2m (°C)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Ambient air temperature at 2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12.4 to 42.8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°C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1889708528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RamaGundem_relative_humidity_2m (%)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Relative humidity at 2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10 to 100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%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2168005965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RamaGundem_cloud_cover (%)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Percentage of sky covered by clouds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 to 100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%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3802833198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700" u="none" strike="noStrike">
                          <a:effectLst/>
                        </a:rPr>
                        <a:t>RamaGundem_wind_speed_10m (km/h)</a:t>
                      </a:r>
                      <a:endParaRPr lang="de-D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Wind speed measured at 10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0.0 to 33.4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km/h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2271918943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RamaGundem_shortwave_radiation (W/m²)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Incoming solar shortwave radiation at surface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 to 982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W/m²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2624324858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Vindhyachal_temperature_2m (°C)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Ambient air temperature at 2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4.9 to 46.1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°C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3460159763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Vindhyachal_relative_humidity_2m (%)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Relative humidity at 2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6 to 100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%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2958927787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Vindhyachal_cloud_cover (%)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Percentage of sky covered by clouds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 to 100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%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3434266829"/>
                  </a:ext>
                </a:extLst>
              </a:tr>
              <a:tr h="190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700" u="none" strike="noStrike">
                          <a:effectLst/>
                        </a:rPr>
                        <a:t>Vindhyachal_wind_speed_10m (km/h)</a:t>
                      </a:r>
                      <a:endParaRPr lang="nl-NL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Wind speed measured at 10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0.0 to 37.6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km/h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8" marR="4948" marT="494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 dirty="0" err="1">
                          <a:effectLst/>
                        </a:rPr>
                        <a:t>Relevent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8" marR="4948" marT="4948" marB="0" anchor="ctr"/>
                </a:tc>
                <a:extLst>
                  <a:ext uri="{0D108BD9-81ED-4DB2-BD59-A6C34878D82A}">
                    <a16:rowId xmlns:a16="http://schemas.microsoft.com/office/drawing/2014/main" val="40968220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Shape 105">
          <a:extLst>
            <a:ext uri="{FF2B5EF4-FFF2-40B4-BE49-F238E27FC236}">
              <a16:creationId xmlns:a16="http://schemas.microsoft.com/office/drawing/2014/main" id="{49A98460-920A-3D40-276F-4DF39F0B8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8A0DE9AB-0124-1B37-9CD0-A7C64F1C28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7790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Dictionary 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5" descr="360DigiTMG Reviews - 52 Reviews of 360digitmg.com | Sitejabber">
            <a:extLst>
              <a:ext uri="{FF2B5EF4-FFF2-40B4-BE49-F238E27FC236}">
                <a16:creationId xmlns:a16="http://schemas.microsoft.com/office/drawing/2014/main" id="{B7695A2C-A52F-94E6-5260-94943DA3DF7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92919" y="5896947"/>
            <a:ext cx="2277039" cy="8083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72B268-611D-2B83-37A9-69F4E294A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363751"/>
              </p:ext>
            </p:extLst>
          </p:nvPr>
        </p:nvGraphicFramePr>
        <p:xfrm>
          <a:off x="233680" y="1016000"/>
          <a:ext cx="11736278" cy="4734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6022">
                  <a:extLst>
                    <a:ext uri="{9D8B030D-6E8A-4147-A177-3AD203B41FA5}">
                      <a16:colId xmlns:a16="http://schemas.microsoft.com/office/drawing/2014/main" val="3121890035"/>
                    </a:ext>
                  </a:extLst>
                </a:gridCol>
                <a:gridCol w="3505919">
                  <a:extLst>
                    <a:ext uri="{9D8B030D-6E8A-4147-A177-3AD203B41FA5}">
                      <a16:colId xmlns:a16="http://schemas.microsoft.com/office/drawing/2014/main" val="1402186813"/>
                    </a:ext>
                  </a:extLst>
                </a:gridCol>
                <a:gridCol w="1111632">
                  <a:extLst>
                    <a:ext uri="{9D8B030D-6E8A-4147-A177-3AD203B41FA5}">
                      <a16:colId xmlns:a16="http://schemas.microsoft.com/office/drawing/2014/main" val="1508834127"/>
                    </a:ext>
                  </a:extLst>
                </a:gridCol>
                <a:gridCol w="1165077">
                  <a:extLst>
                    <a:ext uri="{9D8B030D-6E8A-4147-A177-3AD203B41FA5}">
                      <a16:colId xmlns:a16="http://schemas.microsoft.com/office/drawing/2014/main" val="4099194107"/>
                    </a:ext>
                  </a:extLst>
                </a:gridCol>
                <a:gridCol w="1849158">
                  <a:extLst>
                    <a:ext uri="{9D8B030D-6E8A-4147-A177-3AD203B41FA5}">
                      <a16:colId xmlns:a16="http://schemas.microsoft.com/office/drawing/2014/main" val="1616693219"/>
                    </a:ext>
                  </a:extLst>
                </a:gridCol>
                <a:gridCol w="1838470">
                  <a:extLst>
                    <a:ext uri="{9D8B030D-6E8A-4147-A177-3AD203B41FA5}">
                      <a16:colId xmlns:a16="http://schemas.microsoft.com/office/drawing/2014/main" val="898995028"/>
                    </a:ext>
                  </a:extLst>
                </a:gridCol>
              </a:tblGrid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Vindhyachal_shortwave_radiation (W/m²)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Incoming solar shortwave radiation at surface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 to 1001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W/m²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3520226048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Bhadla_temperature_2m (°C)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Ambient air temperature at 2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2.0 to 49.8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°C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1119300393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Bhadla_relative_humidity_2m (%)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Relative humidity at 2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3 to 100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%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509343305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Bhadla_cloud_cover (%)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Percentage of sky covered by clouds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 to 100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%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2798830447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Bhadla_wind_speed_10m (km/h)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Wind speed measured at 10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0.0 to 47.5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km/h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1250714363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Bhadla_shortwave_radiation (W/m²)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Incoming solar shortwave radiation at surface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 to 961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W/m²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191790723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Akaltara_temperature_2m (°C)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Ambient air temperature at 2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10.1 to 46.7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°C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1392061701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Akaltara_relative_humidity_2m (%)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Relative humidity at 2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7 to 100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%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2357226621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Akaltara_cloud_cover (%)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Percentage of sky covered by clouds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 to 100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%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4077347236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Akaltara_wind_speed_10m (km/h)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Wind speed measured at 10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0.0 to 33.4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km/h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3608111322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Akaltara_shortwave_radiation (W/m²)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Incoming solar shortwave radiation at surface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 to 995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W/m²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17439638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Khavda_temperature_2m (°C)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Ambient air temperature at 2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8.4 to 44.1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°C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3977186221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Khavda_relative_humidity_2m (%)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Relative humidity at 2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5 to 100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%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3383998496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Khavda_cloud_cover (%)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Percentage of sky covered by clouds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 to 100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%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1872466494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Khavda_wind_speed_10m (km/h)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Wind speed measured at 10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0.0 to 77.2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km/h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121002343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Khavda_shortwave_radiation (W/m²)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Incoming solar shortwave radiation at surface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 to 1033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W/m²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1751801949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Muppandal_temperature_2m (°C)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Ambient air temperature at 2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19.4 to 40.5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°C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2609955885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Muppandal_relative_humidity_2m (%)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Relative humidity at 2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17 to 100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%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1176877666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Muppandal_cloud_cover (%)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Percentage of sky covered by clouds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 to 100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%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674400094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Muppandal_wind_speed_10m (km/h)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Wind speed measured at 10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0.0 to 37.2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km/h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973004184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Muppandal_shortwave_radiation (W/m²)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Incoming solar shortwave radiation at surface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 to 1039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W/m²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2666147455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Srisailam_temperature_2m (°C)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Ambient air temperature at 2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12.3 to 43.7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°C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537315925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Srisailam_relative_humidity_2m (%)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Relative humidity at 2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9 to 100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%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3763754753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Srisailam_cloud_cover (%)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Percentage of sky covered by clouds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int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 to 100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%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Relevent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1999799591"/>
                  </a:ext>
                </a:extLst>
              </a:tr>
              <a:tr h="1893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Srisailam_wind_speed_10m (km/h)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Wind speed measured at 10 meters above ground level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float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0.0 to 33.1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km/h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73" marR="4973" marT="497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u="none" strike="noStrike" dirty="0" err="1">
                          <a:effectLst/>
                        </a:rPr>
                        <a:t>Relevent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73" marR="4973" marT="4973" marB="0" anchor="ctr"/>
                </a:tc>
                <a:extLst>
                  <a:ext uri="{0D108BD9-81ED-4DB2-BD59-A6C34878D82A}">
                    <a16:rowId xmlns:a16="http://schemas.microsoft.com/office/drawing/2014/main" val="303193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809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Shape 105">
          <a:extLst>
            <a:ext uri="{FF2B5EF4-FFF2-40B4-BE49-F238E27FC236}">
              <a16:creationId xmlns:a16="http://schemas.microsoft.com/office/drawing/2014/main" id="{D2D772F1-CB00-8C7A-6656-076987A89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1B976593-9D22-BB35-335F-3190C7F21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7790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Dictionary 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5" descr="360DigiTMG Reviews - 52 Reviews of 360digitmg.com | Sitejabber">
            <a:extLst>
              <a:ext uri="{FF2B5EF4-FFF2-40B4-BE49-F238E27FC236}">
                <a16:creationId xmlns:a16="http://schemas.microsoft.com/office/drawing/2014/main" id="{0032E110-3A6B-8867-2C9A-A879D0CB4A0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92919" y="5896947"/>
            <a:ext cx="2277039" cy="8083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B90776-F5B9-7A90-D347-F530C4AF1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028792"/>
              </p:ext>
            </p:extLst>
          </p:nvPr>
        </p:nvGraphicFramePr>
        <p:xfrm>
          <a:off x="203200" y="965200"/>
          <a:ext cx="11766758" cy="48463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1907">
                  <a:extLst>
                    <a:ext uri="{9D8B030D-6E8A-4147-A177-3AD203B41FA5}">
                      <a16:colId xmlns:a16="http://schemas.microsoft.com/office/drawing/2014/main" val="2722218310"/>
                    </a:ext>
                  </a:extLst>
                </a:gridCol>
                <a:gridCol w="3515024">
                  <a:extLst>
                    <a:ext uri="{9D8B030D-6E8A-4147-A177-3AD203B41FA5}">
                      <a16:colId xmlns:a16="http://schemas.microsoft.com/office/drawing/2014/main" val="4266292576"/>
                    </a:ext>
                  </a:extLst>
                </a:gridCol>
                <a:gridCol w="1114520">
                  <a:extLst>
                    <a:ext uri="{9D8B030D-6E8A-4147-A177-3AD203B41FA5}">
                      <a16:colId xmlns:a16="http://schemas.microsoft.com/office/drawing/2014/main" val="1957071211"/>
                    </a:ext>
                  </a:extLst>
                </a:gridCol>
                <a:gridCol w="1168103">
                  <a:extLst>
                    <a:ext uri="{9D8B030D-6E8A-4147-A177-3AD203B41FA5}">
                      <a16:colId xmlns:a16="http://schemas.microsoft.com/office/drawing/2014/main" val="706157337"/>
                    </a:ext>
                  </a:extLst>
                </a:gridCol>
                <a:gridCol w="1853960">
                  <a:extLst>
                    <a:ext uri="{9D8B030D-6E8A-4147-A177-3AD203B41FA5}">
                      <a16:colId xmlns:a16="http://schemas.microsoft.com/office/drawing/2014/main" val="4007415370"/>
                    </a:ext>
                  </a:extLst>
                </a:gridCol>
                <a:gridCol w="1843244">
                  <a:extLst>
                    <a:ext uri="{9D8B030D-6E8A-4147-A177-3AD203B41FA5}">
                      <a16:colId xmlns:a16="http://schemas.microsoft.com/office/drawing/2014/main" val="927051293"/>
                    </a:ext>
                  </a:extLst>
                </a:gridCol>
              </a:tblGrid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Srisailam_shortwave_radiation (W/m²)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Incoming solar shortwave radiation at surface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 to 1000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W/m²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3182660757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Tehri_temperature_2m (°C)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Ambient air temperature at 2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float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1.9 to 40.4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°C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3283995096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Tehri_relative_humidity_2m (%)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Relative humidity at 2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8 to 100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%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1535110382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Tehri_cloud_cover (%)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Percentage of sky covered by clouds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 to 100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%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43072790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Tehri_wind_speed_10m (km/h)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Wind speed measured at 10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float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0.0 to 18.4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km/h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3942702003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Tehri_shortwave_radiation (W/m²)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Incoming solar shortwave radiation at surface level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 to 991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W/m²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246816560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Blr_temperature_2m (°C)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Ambient air temperature at 2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float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11.9 to 39.5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°C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1428906005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Blr_relative_humidity_2m (%)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Relative humidity at 2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10 to 100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%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3681780476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Blr_cloud_cover (%)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Percentage of sky covered by clouds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 to 100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%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1487722578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Blr_wind_speed_10m (km/h)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Wind speed measured at 10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float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0.0 to 39.3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km/h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99226651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Blr_shortwave_radiation (W/m²)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Incoming solar shortwave radiation at surface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 to 1044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W/m²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1028314420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Chn_temperature_2m (°C)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Ambient air temperature at 2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float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18.2 to 41.0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°C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2239022629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Chn_relative_humidity_2m (%)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Relative humidity at 2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22 to 100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%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3386426674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Chn_cloud_cover (%)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Percentage of sky covered by clouds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 to 100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%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2245522013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Chn_wind_speed_10m (km/h)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Wind speed measured at 10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float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0.0 to 50.1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km/h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1992292180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Chn_shortwave_radiation (W/m²)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Incoming solar shortwave radiation at surface level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 to 1013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W/m²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3357861233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Delhi_temperature_2m (°C)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Ambient air temperature at 2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float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2.4 to 46.2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°C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3967938759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Delhi_relative_humidity_2m (%)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Relative humidity at 2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5 to 100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%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1449880758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Delhi_cloud_cover (%)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Percentage of sky covered by clouds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 to 100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%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3713345016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Delhi_wind_speed_10m (km/h)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Wind speed measured at 10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float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0.0 to 37.4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km/h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3299717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Delhi_shortwave_radiation (W/m²)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Incoming solar shortwave radiation at surface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 to 944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W/m²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2454362783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Hyd_temperature_2m (°C)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Ambient air temperature at 2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float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11.1 to 41.4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°C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3732593003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Hyd_relative_humidity_2m (%)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Relative humidity at 2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10 to 100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%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1991910014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Hyd_cloud_cover (%)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Percentage of sky covered by clouds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 to 100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%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3606162391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600" u="none" strike="noStrike">
                          <a:effectLst/>
                        </a:rPr>
                        <a:t>Hyd_wind_speed_10m (km/h)</a:t>
                      </a:r>
                      <a:endParaRPr lang="nl-NL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Wind speed measured at 10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float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0.0 to 34.2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km/h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2167825386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Hyd_shortwave_radiation (W/m²)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Incoming solar shortwave radiation at surface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 to 989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W/m²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627949898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Mumbai_temperature_2m (°C)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Ambient air temperature at 2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float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15.5 to 41.0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°C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1175346966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Mumbai_relative_humidity_2m (%)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Relative humidity at 2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10 to 99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%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4000403969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Mumbai_cloud_cover (%)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Percentage of sky covered by clouds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 to 100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%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1044077382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Mumbai_wind_speed_10m (km/h)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Wind speed measured at 10 meters above ground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float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0.0 to 44.1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km/h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Relevent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2712511691"/>
                  </a:ext>
                </a:extLst>
              </a:tr>
              <a:tr h="156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Mumbai_shortwave_radiation (W/m²)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Incoming solar shortwave radiation at surface level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int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 to 982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W/m²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0" marR="4010" marT="401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u="none" strike="noStrike" dirty="0" err="1">
                          <a:effectLst/>
                        </a:rPr>
                        <a:t>Relevent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10" marR="4010" marT="4010" marB="0" anchor="ctr"/>
                </a:tc>
                <a:extLst>
                  <a:ext uri="{0D108BD9-81ED-4DB2-BD59-A6C34878D82A}">
                    <a16:rowId xmlns:a16="http://schemas.microsoft.com/office/drawing/2014/main" val="644559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20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</a:blip>
          <a:srcRect/>
          <a:tile tx="0" ty="0" sx="100000" sy="100000" flip="none" algn="tl"/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>
            <a:spLocks noGrp="1"/>
          </p:cNvSpPr>
          <p:nvPr>
            <p:ph type="title"/>
          </p:nvPr>
        </p:nvSpPr>
        <p:spPr>
          <a:xfrm>
            <a:off x="248194" y="147682"/>
            <a:ext cx="9247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Exploratory Data Analysis [EDA]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5"/>
          <p:cNvSpPr txBox="1">
            <a:spLocks noGrp="1"/>
          </p:cNvSpPr>
          <p:nvPr>
            <p:ph type="sldNum" idx="12"/>
          </p:nvPr>
        </p:nvSpPr>
        <p:spPr>
          <a:xfrm>
            <a:off x="11639552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609600" y="1181100"/>
            <a:ext cx="1943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5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5"/>
          <p:cNvSpPr/>
          <p:nvPr/>
        </p:nvSpPr>
        <p:spPr>
          <a:xfrm>
            <a:off x="161923" y="944880"/>
            <a:ext cx="5374433" cy="5509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5760622" y="944881"/>
            <a:ext cx="6267962" cy="465968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5"/>
          <p:cNvSpPr txBox="1"/>
          <p:nvPr/>
        </p:nvSpPr>
        <p:spPr>
          <a:xfrm>
            <a:off x="6187474" y="1012016"/>
            <a:ext cx="537443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Insights</a:t>
            </a:r>
            <a:endParaRPr sz="1400" b="1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516B479-9F8F-20CB-54B6-7270B84DE673}"/>
              </a:ext>
            </a:extLst>
          </p:cNvPr>
          <p:cNvGrpSpPr/>
          <p:nvPr/>
        </p:nvGrpSpPr>
        <p:grpSpPr>
          <a:xfrm>
            <a:off x="280229" y="944880"/>
            <a:ext cx="5424195" cy="5559828"/>
            <a:chOff x="609600" y="955281"/>
            <a:chExt cx="5424195" cy="5559828"/>
          </a:xfrm>
        </p:grpSpPr>
        <p:sp>
          <p:nvSpPr>
            <p:cNvPr id="121" name="Google Shape;121;p25"/>
            <p:cNvSpPr txBox="1"/>
            <p:nvPr/>
          </p:nvSpPr>
          <p:spPr>
            <a:xfrm>
              <a:off x="609600" y="955281"/>
              <a:ext cx="53744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sng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Statistical Insights</a:t>
              </a:r>
              <a:endParaRPr sz="14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0937838D-10E7-B266-6890-E4DFF9D80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798" y="1005909"/>
              <a:ext cx="5367997" cy="5509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The analysis identified significant fluctuations in power market prices, indicating high market volatility during peak trading periods. 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Demand and supply patterns showed strong variability across different time intervals and regions. 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Correlation analysis revealed that higher electricity demand directly influenced increases in market prices. 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Time-series analysis highlighted recurring peak consumption periods during industrial and business operating hours. 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Outlier detection identified sudden price spikes caused by demand surges, supply shortages, and market instability. 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Variance and standard deviation values indicated considerable dispersion in trading prices, reflecting unstable market conditions. 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Seasonal and weather-based trends impacted both electricity demand and trading behavior. 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Risk analysis visuals showed certain regions consistently experiencing higher trading risk exposure compared to others. </a:t>
              </a:r>
            </a:p>
          </p:txBody>
        </p:sp>
      </p:grpSp>
      <p:sp>
        <p:nvSpPr>
          <p:cNvPr id="7" name="Rectangle 3">
            <a:extLst>
              <a:ext uri="{FF2B5EF4-FFF2-40B4-BE49-F238E27FC236}">
                <a16:creationId xmlns:a16="http://schemas.microsoft.com/office/drawing/2014/main" id="{87112A50-D898-CAFF-BDBF-245B183C8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0709" y="1080251"/>
            <a:ext cx="626796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monitoring of market prices and demand patterns can help traders reduce financial losses and improve decision-making.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analytics enables better forecasting of electricity prices, allowing optimized buying and selling strategies.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Identifying peak demand periods helps organizations maximize trading profitability and manage procurement efficiently.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detection of abnormal market fluctuations supports proactive risk mitigation and reduces exposure to volatile conditions.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Region-wise risk analysis helps businesses allocate energy resources more effectively and improve operational planning.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Integrating multiple market and operational data sources improves trading accuracy and enhances market responsiveness.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trading strategies can reduce procurement costs, improve operational efficiency, and increase revenue generation.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insights support smarter energy distribution, better risk management, and long-term strategic planning in power trading operations.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</a:blip>
          <a:srcRect/>
          <a:tile tx="0" ty="0" sx="100000" sy="100000" flip="none" algn="tl"/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>
            <a:spLocks noGrp="1"/>
          </p:cNvSpPr>
          <p:nvPr>
            <p:ph type="title"/>
          </p:nvPr>
        </p:nvSpPr>
        <p:spPr>
          <a:xfrm>
            <a:off x="228600" y="177790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/>
          </a:p>
        </p:txBody>
      </p:sp>
      <p:sp>
        <p:nvSpPr>
          <p:cNvPr id="129" name="Google Shape;129;p30"/>
          <p:cNvSpPr txBox="1"/>
          <p:nvPr/>
        </p:nvSpPr>
        <p:spPr>
          <a:xfrm>
            <a:off x="876300" y="14287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30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5FD86AF-865B-EC5C-6E0E-5D3EE201ED05}"/>
              </a:ext>
            </a:extLst>
          </p:cNvPr>
          <p:cNvSpPr txBox="1"/>
          <p:nvPr/>
        </p:nvSpPr>
        <p:spPr>
          <a:xfrm>
            <a:off x="636684" y="1166842"/>
            <a:ext cx="113919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Data Cleaning</a:t>
            </a:r>
          </a:p>
          <a:p>
            <a:endParaRPr lang="en-US" sz="1600" b="1" dirty="0"/>
          </a:p>
          <a:p>
            <a:r>
              <a:rPr lang="en-US" sz="1600" dirty="0"/>
              <a:t>Data cleaning was performed to improve data quality and ensure accurate analysis.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Removed duplicate records from the dataset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Handled missing/null values using suitable techniques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Corrected inconsistent and invalid entries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Standardized date, time, and categorical formats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Removed unnecessary columns and irrelevant records </a:t>
            </a:r>
          </a:p>
          <a:p>
            <a:endParaRPr lang="en-US" sz="1600" dirty="0"/>
          </a:p>
          <a:p>
            <a:pPr marL="342900" indent="-342900">
              <a:buFont typeface="+mj-lt"/>
              <a:buAutoNum type="arabicPeriod" startAt="2"/>
            </a:pPr>
            <a:r>
              <a:rPr lang="en-US" sz="1600" b="1" dirty="0"/>
              <a:t>Data Type Conversion</a:t>
            </a:r>
          </a:p>
          <a:p>
            <a:endParaRPr lang="en-US" sz="1600" b="1" dirty="0"/>
          </a:p>
          <a:p>
            <a:r>
              <a:rPr lang="en-US" sz="1600" dirty="0"/>
              <a:t>Data types were converted to ensure compatibility with analytical tools and models.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Converted date columns into datetime format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Changed numerical columns stored as text into integer/float types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Converted categorical variables into encoded formats where required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Standardized timestamp formats for time-series analysis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</a:blip>
          <a:srcRect/>
          <a:tile tx="0" ty="0" sx="100000" sy="100000" flip="none" algn="tl"/>
        </a:blipFill>
        <a:effectLst/>
      </p:bgPr>
    </p:bg>
    <p:spTree>
      <p:nvGrpSpPr>
        <p:cNvPr id="1" name="Shape 127">
          <a:extLst>
            <a:ext uri="{FF2B5EF4-FFF2-40B4-BE49-F238E27FC236}">
              <a16:creationId xmlns:a16="http://schemas.microsoft.com/office/drawing/2014/main" id="{D9BEB322-2941-4DC1-0142-D94C1806F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65AF6014-85B2-D9F7-A0A3-52C0985318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77790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/>
          </a:p>
        </p:txBody>
      </p:sp>
      <p:sp>
        <p:nvSpPr>
          <p:cNvPr id="129" name="Google Shape;129;p30">
            <a:extLst>
              <a:ext uri="{FF2B5EF4-FFF2-40B4-BE49-F238E27FC236}">
                <a16:creationId xmlns:a16="http://schemas.microsoft.com/office/drawing/2014/main" id="{2F23E67D-71F4-C7D6-ED90-4D450127EC2A}"/>
              </a:ext>
            </a:extLst>
          </p:cNvPr>
          <p:cNvSpPr txBox="1"/>
          <p:nvPr/>
        </p:nvSpPr>
        <p:spPr>
          <a:xfrm>
            <a:off x="876300" y="14287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30" descr="360DigiTMG Reviews - 52 Reviews of 360digitmg.com | Sitejabber">
            <a:extLst>
              <a:ext uri="{FF2B5EF4-FFF2-40B4-BE49-F238E27FC236}">
                <a16:creationId xmlns:a16="http://schemas.microsoft.com/office/drawing/2014/main" id="{6D5CFD15-0BE5-A07A-DE43-54041942595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78D831-4A89-677A-2147-EDC242158857}"/>
              </a:ext>
            </a:extLst>
          </p:cNvPr>
          <p:cNvSpPr txBox="1"/>
          <p:nvPr/>
        </p:nvSpPr>
        <p:spPr>
          <a:xfrm>
            <a:off x="636684" y="1036625"/>
            <a:ext cx="1139190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sz="1600" b="1" dirty="0"/>
              <a:t>Outlier Detection &amp; Treatment</a:t>
            </a:r>
          </a:p>
          <a:p>
            <a:endParaRPr lang="en-US" sz="1600" b="1" dirty="0"/>
          </a:p>
          <a:p>
            <a:r>
              <a:rPr lang="en-US" sz="1600" dirty="0"/>
              <a:t>Outliers were identified to reduce the impact of abnormal market values and fluctuations.</a:t>
            </a:r>
          </a:p>
          <a:p>
            <a:endParaRPr lang="en-US" sz="1600" dirty="0"/>
          </a:p>
          <a:p>
            <a:r>
              <a:rPr lang="en-US" sz="1600" b="1" dirty="0"/>
              <a:t>Techniques Used:</a:t>
            </a:r>
          </a:p>
          <a:p>
            <a:r>
              <a:rPr lang="en-US" sz="1600" dirty="0"/>
              <a:t>Box Plot Analysis </a:t>
            </a:r>
          </a:p>
          <a:p>
            <a:r>
              <a:rPr lang="en-US" sz="1600" dirty="0"/>
              <a:t>Interquartile Range (IQR) Method </a:t>
            </a:r>
          </a:p>
          <a:p>
            <a:endParaRPr lang="en-US" sz="1600" dirty="0"/>
          </a:p>
          <a:p>
            <a:r>
              <a:rPr lang="en-US" sz="1600" dirty="0"/>
              <a:t>Identified abnormal spikes in price and demand data </a:t>
            </a:r>
          </a:p>
          <a:p>
            <a:r>
              <a:rPr lang="en-US" sz="1600" dirty="0"/>
              <a:t>Treated extreme values using capping and filtering techniques </a:t>
            </a:r>
          </a:p>
          <a:p>
            <a:r>
              <a:rPr lang="en-US" sz="1600" dirty="0"/>
              <a:t>Preserved important market volatility trends while removing noise 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+mj-lt"/>
              <a:buAutoNum type="arabicPeriod" startAt="4"/>
            </a:pPr>
            <a:r>
              <a:rPr lang="en-US" sz="1600" b="1" dirty="0"/>
              <a:t>Statistical Analysis</a:t>
            </a:r>
          </a:p>
          <a:p>
            <a:endParaRPr lang="en-US" sz="1600" b="1" dirty="0"/>
          </a:p>
          <a:p>
            <a:r>
              <a:rPr lang="en-US" sz="1600" dirty="0"/>
              <a:t>Statistical analysis was conducted to understand the distribution and behavior of the data.</a:t>
            </a:r>
          </a:p>
          <a:p>
            <a:endParaRPr lang="en-US" sz="1600" dirty="0"/>
          </a:p>
          <a:p>
            <a:r>
              <a:rPr lang="en-US" sz="1600" dirty="0"/>
              <a:t>Mean </a:t>
            </a:r>
          </a:p>
          <a:p>
            <a:r>
              <a:rPr lang="en-US" sz="1600" dirty="0"/>
              <a:t>Median </a:t>
            </a:r>
          </a:p>
          <a:p>
            <a:r>
              <a:rPr lang="en-US" sz="1600" dirty="0"/>
              <a:t>Mode </a:t>
            </a:r>
          </a:p>
          <a:p>
            <a:r>
              <a:rPr lang="en-US" sz="1600" dirty="0"/>
              <a:t>Standard Deviation </a:t>
            </a:r>
          </a:p>
          <a:p>
            <a:r>
              <a:rPr lang="en-US" sz="1600" dirty="0"/>
              <a:t>Variance </a:t>
            </a:r>
          </a:p>
          <a:p>
            <a:r>
              <a:rPr lang="en-US" sz="1600" dirty="0"/>
              <a:t>Correlation Analysis </a:t>
            </a:r>
          </a:p>
          <a:p>
            <a:r>
              <a:rPr lang="en-US" sz="1600" dirty="0"/>
              <a:t>Skewness &amp; Kurtosis </a:t>
            </a:r>
          </a:p>
        </p:txBody>
      </p:sp>
    </p:spTree>
    <p:extLst>
      <p:ext uri="{BB962C8B-B14F-4D97-AF65-F5344CB8AC3E}">
        <p14:creationId xmlns:p14="http://schemas.microsoft.com/office/powerpoint/2010/main" val="745162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>
            <a:spLocks noGrp="1"/>
          </p:cNvSpPr>
          <p:nvPr>
            <p:ph type="title"/>
          </p:nvPr>
        </p:nvSpPr>
        <p:spPr>
          <a:xfrm>
            <a:off x="228600" y="177790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Visualization </a:t>
            </a:r>
            <a:endParaRPr/>
          </a:p>
        </p:txBody>
      </p:sp>
      <p:sp>
        <p:nvSpPr>
          <p:cNvPr id="137" name="Google Shape;137;p32"/>
          <p:cNvSpPr txBox="1"/>
          <p:nvPr/>
        </p:nvSpPr>
        <p:spPr>
          <a:xfrm>
            <a:off x="666750" y="13525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2"/>
          <p:cNvSpPr txBox="1"/>
          <p:nvPr/>
        </p:nvSpPr>
        <p:spPr>
          <a:xfrm>
            <a:off x="287350" y="1245175"/>
            <a:ext cx="110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32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0273A0-75B5-8690-708A-432F7C74F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480" y="792480"/>
            <a:ext cx="10109200" cy="5039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Shape 135">
          <a:extLst>
            <a:ext uri="{FF2B5EF4-FFF2-40B4-BE49-F238E27FC236}">
              <a16:creationId xmlns:a16="http://schemas.microsoft.com/office/drawing/2014/main" id="{93B80A5F-9BA6-7DE2-3642-2E0FBF1B0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>
            <a:extLst>
              <a:ext uri="{FF2B5EF4-FFF2-40B4-BE49-F238E27FC236}">
                <a16:creationId xmlns:a16="http://schemas.microsoft.com/office/drawing/2014/main" id="{BA5994EA-8834-4883-3FD7-59D15FFDB8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77790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Visualization </a:t>
            </a:r>
            <a:endParaRPr/>
          </a:p>
        </p:txBody>
      </p:sp>
      <p:sp>
        <p:nvSpPr>
          <p:cNvPr id="137" name="Google Shape;137;p32">
            <a:extLst>
              <a:ext uri="{FF2B5EF4-FFF2-40B4-BE49-F238E27FC236}">
                <a16:creationId xmlns:a16="http://schemas.microsoft.com/office/drawing/2014/main" id="{F5BB376D-F073-F98E-A180-A7F00F0D25C8}"/>
              </a:ext>
            </a:extLst>
          </p:cNvPr>
          <p:cNvSpPr txBox="1"/>
          <p:nvPr/>
        </p:nvSpPr>
        <p:spPr>
          <a:xfrm>
            <a:off x="666750" y="13525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2">
            <a:extLst>
              <a:ext uri="{FF2B5EF4-FFF2-40B4-BE49-F238E27FC236}">
                <a16:creationId xmlns:a16="http://schemas.microsoft.com/office/drawing/2014/main" id="{3A3F21B7-DF99-9427-4C0E-22606420AD12}"/>
              </a:ext>
            </a:extLst>
          </p:cNvPr>
          <p:cNvSpPr txBox="1"/>
          <p:nvPr/>
        </p:nvSpPr>
        <p:spPr>
          <a:xfrm>
            <a:off x="287350" y="1245175"/>
            <a:ext cx="110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32" descr="360DigiTMG Reviews - 52 Reviews of 360digitmg.com | Sitejabber">
            <a:extLst>
              <a:ext uri="{FF2B5EF4-FFF2-40B4-BE49-F238E27FC236}">
                <a16:creationId xmlns:a16="http://schemas.microsoft.com/office/drawing/2014/main" id="{C6B61599-297D-6154-C92B-71F4EFB7C67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295452-095B-FD20-011F-01AD44639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881" y="822960"/>
            <a:ext cx="10120237" cy="498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60"/>
          <p:cNvCxnSpPr/>
          <p:nvPr/>
        </p:nvCxnSpPr>
        <p:spPr>
          <a:xfrm>
            <a:off x="0" y="6464596"/>
            <a:ext cx="9597656" cy="0"/>
          </a:xfrm>
          <a:prstGeom prst="straightConnector1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5" name="Google Shape;145;p60" descr="Attitudes 2 Animal Cognition Survey – The Anthrozoologis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0415" y="272435"/>
            <a:ext cx="5971172" cy="5971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0" descr="360DigiTMG Reviews - 52 Reviews of 360digitmg.com | Sitejabb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23552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2621</Words>
  <Application>Microsoft Office PowerPoint</Application>
  <PresentationFormat>Widescreen</PresentationFormat>
  <Paragraphs>589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 Narrow</vt:lpstr>
      <vt:lpstr>Arial</vt:lpstr>
      <vt:lpstr>Bahnschrift Condensed</vt:lpstr>
      <vt:lpstr>Calibri</vt:lpstr>
      <vt:lpstr>Georgia</vt:lpstr>
      <vt:lpstr>Times New Roman</vt:lpstr>
      <vt:lpstr>Office Theme</vt:lpstr>
      <vt:lpstr>Power Trading Forecasting Analysis </vt:lpstr>
      <vt:lpstr>Contents</vt:lpstr>
      <vt:lpstr>Business Problem</vt:lpstr>
      <vt:lpstr>Project Overview and Scope</vt:lpstr>
      <vt:lpstr> Data Dictionary </vt:lpstr>
      <vt:lpstr>Data Dictionary </vt:lpstr>
      <vt:lpstr>Data Dictionary </vt:lpstr>
      <vt:lpstr>Exploratory Data Analysis [EDA]</vt:lpstr>
      <vt:lpstr>Data Preprocessing</vt:lpstr>
      <vt:lpstr>Data Preprocessing</vt:lpstr>
      <vt:lpstr>Data Visualization </vt:lpstr>
      <vt:lpstr>Data Visualization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VIKAS BARTHWAL</dc:creator>
  <cp:lastModifiedBy>Hridik Narang</cp:lastModifiedBy>
  <cp:revision>2</cp:revision>
  <dcterms:created xsi:type="dcterms:W3CDTF">2022-02-16T01:47:29Z</dcterms:created>
  <dcterms:modified xsi:type="dcterms:W3CDTF">2026-05-08T01:53:51Z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49deba9595b64033890e84905b5c3bc0</vt:lpwstr>
  </property>
</Properties>
</file>