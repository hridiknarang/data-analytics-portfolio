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5" r:id="rId10"/>
    <p:sldId id="266" r:id="rId11"/>
    <p:sldId id="264" r:id="rId1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570">
          <p15:clr>
            <a:srgbClr val="9AA0A6"/>
          </p15:clr>
        </p15:guide>
        <p15:guide id="2" pos="5868">
          <p15:clr>
            <a:srgbClr val="9AA0A6"/>
          </p15:clr>
        </p15:guide>
        <p15:guide id="3" orient="horz" pos="157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5" roundtripDataSignature="AMtx7mhXQ1N1MafN4fY+Bs9ldogAdiZ6C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72"/>
      </p:cViewPr>
      <p:guideLst>
        <p:guide orient="horz" pos="1570"/>
        <p:guide pos="5868"/>
        <p:guide orient="horz" pos="157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customschemas.google.com/relationships/presentationmetadata" Target="meta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dirty="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0" name="Google Shape;7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f3a8d4be09_2_18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Change </a:t>
            </a:r>
            <a:endParaRPr dirty="0"/>
          </a:p>
        </p:txBody>
      </p:sp>
      <p:sp>
        <p:nvSpPr>
          <p:cNvPr id="79" name="Google Shape;79;gf3a8d4be09_2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7" name="Google Shape;8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f3a8d4be09_2_9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gf3a8d4be09_2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4" name="Google Shape;104;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US" sz="1200" dirty="0"/>
              <a:t>EDA is used for </a:t>
            </a:r>
            <a:r>
              <a:rPr lang="en-US" sz="1200" b="1" dirty="0"/>
              <a:t>seeing what the data can tell us before the modeling task</a:t>
            </a:r>
            <a:r>
              <a:rPr lang="en-US" sz="1200" dirty="0"/>
              <a:t>.</a:t>
            </a:r>
            <a:endParaRPr dirty="0"/>
          </a:p>
          <a:p>
            <a:pPr marL="0" lvl="0" indent="0" algn="l" rtl="0">
              <a:lnSpc>
                <a:spcPct val="100000"/>
              </a:lnSpc>
              <a:spcBef>
                <a:spcPts val="0"/>
              </a:spcBef>
              <a:spcAft>
                <a:spcPts val="0"/>
              </a:spcAft>
              <a:buSzPts val="1400"/>
              <a:buNone/>
            </a:pPr>
            <a:endParaRPr sz="1200" dirty="0"/>
          </a:p>
          <a:p>
            <a:pPr marL="0" lvl="0" indent="0" algn="l" rtl="0">
              <a:lnSpc>
                <a:spcPct val="100000"/>
              </a:lnSpc>
              <a:spcBef>
                <a:spcPts val="0"/>
              </a:spcBef>
              <a:spcAft>
                <a:spcPts val="0"/>
              </a:spcAft>
              <a:buSzPts val="1400"/>
              <a:buNone/>
            </a:pPr>
            <a:r>
              <a:rPr lang="en-US" sz="1200" dirty="0"/>
              <a:t>Change</a:t>
            </a:r>
            <a:endParaRPr dirty="0"/>
          </a:p>
          <a:p>
            <a:pPr marL="0" lvl="0" indent="0" algn="l" rtl="0">
              <a:lnSpc>
                <a:spcPct val="100000"/>
              </a:lnSpc>
              <a:spcBef>
                <a:spcPts val="0"/>
              </a:spcBef>
              <a:spcAft>
                <a:spcPts val="0"/>
              </a:spcAft>
              <a:buSzPts val="1400"/>
              <a:buNone/>
            </a:pPr>
            <a:endParaRPr dirty="0"/>
          </a:p>
        </p:txBody>
      </p:sp>
      <p:sp>
        <p:nvSpPr>
          <p:cNvPr id="110" name="Google Shape;110;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100000"/>
              </a:lnSpc>
              <a:spcBef>
                <a:spcPts val="0"/>
              </a:spcBef>
              <a:spcAft>
                <a:spcPts val="0"/>
              </a:spcAft>
              <a:buClr>
                <a:srgbClr val="000000"/>
              </a:buClr>
              <a:buSzPts val="1400"/>
              <a:buFont typeface="Arial"/>
              <a:buNone/>
            </a:pPr>
            <a:r>
              <a:rPr lang="en-US" dirty="0"/>
              <a:t>Keep observations </a:t>
            </a:r>
            <a:endParaRPr dirty="0"/>
          </a:p>
        </p:txBody>
      </p:sp>
      <p:sp>
        <p:nvSpPr>
          <p:cNvPr id="126" name="Google Shape;126;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7</a:t>
            </a:fld>
            <a:endParaRPr sz="1200" b="0" i="0" u="none" strike="noStrike" cap="none" dirty="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100000"/>
              </a:lnSpc>
              <a:spcBef>
                <a:spcPts val="0"/>
              </a:spcBef>
              <a:spcAft>
                <a:spcPts val="0"/>
              </a:spcAft>
              <a:buClr>
                <a:srgbClr val="000000"/>
              </a:buClr>
              <a:buSzPts val="1400"/>
              <a:buFont typeface="Arial"/>
              <a:buNone/>
            </a:pPr>
            <a:r>
              <a:rPr lang="en-US" dirty="0"/>
              <a:t>Add graphical </a:t>
            </a:r>
            <a:endParaRPr dirty="0"/>
          </a:p>
        </p:txBody>
      </p:sp>
      <p:sp>
        <p:nvSpPr>
          <p:cNvPr id="134" name="Google Shape;134;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8</a:t>
            </a:fld>
            <a:endParaRPr sz="1200" b="0" i="0" u="none" strike="noStrike" cap="none" dirty="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B520734D-FBC8-36F6-2C01-25E7D09D3923}"/>
            </a:ext>
          </a:extLst>
        </p:cNvPr>
        <p:cNvGrpSpPr/>
        <p:nvPr/>
      </p:nvGrpSpPr>
      <p:grpSpPr>
        <a:xfrm>
          <a:off x="0" y="0"/>
          <a:ext cx="0" cy="0"/>
          <a:chOff x="0" y="0"/>
          <a:chExt cx="0" cy="0"/>
        </a:xfrm>
      </p:grpSpPr>
      <p:sp>
        <p:nvSpPr>
          <p:cNvPr id="132" name="Google Shape;132;p32:notes">
            <a:extLst>
              <a:ext uri="{FF2B5EF4-FFF2-40B4-BE49-F238E27FC236}">
                <a16:creationId xmlns:a16="http://schemas.microsoft.com/office/drawing/2014/main" id="{C6B1E84F-D6B1-AEFC-C47D-9EC4EDFB109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32:notes">
            <a:extLst>
              <a:ext uri="{FF2B5EF4-FFF2-40B4-BE49-F238E27FC236}">
                <a16:creationId xmlns:a16="http://schemas.microsoft.com/office/drawing/2014/main" id="{E614123F-001F-86F7-8E13-E546F35F214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100000"/>
              </a:lnSpc>
              <a:spcBef>
                <a:spcPts val="0"/>
              </a:spcBef>
              <a:spcAft>
                <a:spcPts val="0"/>
              </a:spcAft>
              <a:buClr>
                <a:srgbClr val="000000"/>
              </a:buClr>
              <a:buSzPts val="1400"/>
              <a:buFont typeface="Arial"/>
              <a:buNone/>
            </a:pPr>
            <a:r>
              <a:rPr lang="en-US" dirty="0"/>
              <a:t>Add graphical </a:t>
            </a:r>
            <a:endParaRPr dirty="0"/>
          </a:p>
        </p:txBody>
      </p:sp>
      <p:sp>
        <p:nvSpPr>
          <p:cNvPr id="134" name="Google Shape;134;p32:notes">
            <a:extLst>
              <a:ext uri="{FF2B5EF4-FFF2-40B4-BE49-F238E27FC236}">
                <a16:creationId xmlns:a16="http://schemas.microsoft.com/office/drawing/2014/main" id="{B60F04CC-62C4-4836-71A3-2C829683BBBC}"/>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9</a:t>
            </a:fld>
            <a:endParaRPr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285780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5819F40F-788D-FEF6-374A-36F17C64106B}"/>
            </a:ext>
          </a:extLst>
        </p:cNvPr>
        <p:cNvGrpSpPr/>
        <p:nvPr/>
      </p:nvGrpSpPr>
      <p:grpSpPr>
        <a:xfrm>
          <a:off x="0" y="0"/>
          <a:ext cx="0" cy="0"/>
          <a:chOff x="0" y="0"/>
          <a:chExt cx="0" cy="0"/>
        </a:xfrm>
      </p:grpSpPr>
      <p:sp>
        <p:nvSpPr>
          <p:cNvPr id="132" name="Google Shape;132;p32:notes">
            <a:extLst>
              <a:ext uri="{FF2B5EF4-FFF2-40B4-BE49-F238E27FC236}">
                <a16:creationId xmlns:a16="http://schemas.microsoft.com/office/drawing/2014/main" id="{967077C1-9AFC-257E-DC58-961ED36560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32:notes">
            <a:extLst>
              <a:ext uri="{FF2B5EF4-FFF2-40B4-BE49-F238E27FC236}">
                <a16:creationId xmlns:a16="http://schemas.microsoft.com/office/drawing/2014/main" id="{4BAC61E2-0B80-61C7-711A-978BAEB26D8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100000"/>
              </a:lnSpc>
              <a:spcBef>
                <a:spcPts val="0"/>
              </a:spcBef>
              <a:spcAft>
                <a:spcPts val="0"/>
              </a:spcAft>
              <a:buClr>
                <a:srgbClr val="000000"/>
              </a:buClr>
              <a:buSzPts val="1400"/>
              <a:buFont typeface="Arial"/>
              <a:buNone/>
            </a:pPr>
            <a:r>
              <a:rPr lang="en-US" dirty="0"/>
              <a:t>Add graphical </a:t>
            </a:r>
            <a:endParaRPr dirty="0"/>
          </a:p>
        </p:txBody>
      </p:sp>
      <p:sp>
        <p:nvSpPr>
          <p:cNvPr id="134" name="Google Shape;134;p32:notes">
            <a:extLst>
              <a:ext uri="{FF2B5EF4-FFF2-40B4-BE49-F238E27FC236}">
                <a16:creationId xmlns:a16="http://schemas.microsoft.com/office/drawing/2014/main" id="{DF4F0FA2-DFCB-752F-F371-F76E5916438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10</a:t>
            </a:fld>
            <a:endParaRPr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583578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42" name="Google Shape;142;p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39"/>
          <p:cNvSpPr txBox="1">
            <a:spLocks noGrp="1"/>
          </p:cNvSpPr>
          <p:nvPr>
            <p:ph type="title"/>
          </p:nvPr>
        </p:nvSpPr>
        <p:spPr>
          <a:xfrm>
            <a:off x="838200" y="365125"/>
            <a:ext cx="10515600" cy="1325563"/>
          </a:xfrm>
          <a:prstGeom prst="rect">
            <a:avLst/>
          </a:prstGeom>
          <a:noFill/>
          <a:ln>
            <a:noFill/>
          </a:ln>
        </p:spPr>
        <p:txBody>
          <a:bodyPr spcFirstLastPara="1" wrap="square" lIns="91400" tIns="45675" rIns="91400" bIns="45675"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39"/>
          <p:cNvSpPr txBox="1">
            <a:spLocks noGrp="1"/>
          </p:cNvSpPr>
          <p:nvPr>
            <p:ph type="body" idx="1"/>
          </p:nvPr>
        </p:nvSpPr>
        <p:spPr>
          <a:xfrm>
            <a:off x="838200" y="1825625"/>
            <a:ext cx="10515600" cy="4351339"/>
          </a:xfrm>
          <a:prstGeom prst="rect">
            <a:avLst/>
          </a:prstGeom>
          <a:noFill/>
          <a:ln>
            <a:noFill/>
          </a:ln>
        </p:spPr>
        <p:txBody>
          <a:bodyPr spcFirstLastPara="1" wrap="square" lIns="91400" tIns="45675" rIns="91400" bIns="45675"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39"/>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9" name="Google Shape;19;p39"/>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0" name="Google Shape;20;p39"/>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1">
  <p:cSld name="Title and Content">
    <p:spTree>
      <p:nvGrpSpPr>
        <p:cNvPr id="1" name="Shape 21"/>
        <p:cNvGrpSpPr/>
        <p:nvPr/>
      </p:nvGrpSpPr>
      <p:grpSpPr>
        <a:xfrm>
          <a:off x="0" y="0"/>
          <a:ext cx="0" cy="0"/>
          <a:chOff x="0" y="0"/>
          <a:chExt cx="0" cy="0"/>
        </a:xfrm>
      </p:grpSpPr>
      <p:sp>
        <p:nvSpPr>
          <p:cNvPr id="22" name="Google Shape;22;gf3a8d4be09_2_86"/>
          <p:cNvSpPr/>
          <p:nvPr/>
        </p:nvSpPr>
        <p:spPr>
          <a:xfrm>
            <a:off x="0" y="3"/>
            <a:ext cx="12192000" cy="819300"/>
          </a:xfrm>
          <a:prstGeom prst="rect">
            <a:avLst/>
          </a:prstGeom>
          <a:solidFill>
            <a:srgbClr val="D5DBE5"/>
          </a:solidFill>
          <a:ln>
            <a:noFill/>
          </a:ln>
        </p:spPr>
        <p:txBody>
          <a:bodyPr spcFirstLastPara="1" wrap="square" lIns="91400" tIns="45675" rIns="91400" bIns="456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900" b="0" i="0" u="none" strike="noStrike" cap="none" dirty="0">
              <a:solidFill>
                <a:schemeClr val="lt1"/>
              </a:solidFill>
              <a:latin typeface="Calibri"/>
              <a:ea typeface="Calibri"/>
              <a:cs typeface="Calibri"/>
              <a:sym typeface="Calibri"/>
            </a:endParaRPr>
          </a:p>
        </p:txBody>
      </p:sp>
      <p:sp>
        <p:nvSpPr>
          <p:cNvPr id="23" name="Google Shape;23;gf3a8d4be09_2_86"/>
          <p:cNvSpPr txBox="1">
            <a:spLocks noGrp="1"/>
          </p:cNvSpPr>
          <p:nvPr>
            <p:ph type="title"/>
          </p:nvPr>
        </p:nvSpPr>
        <p:spPr>
          <a:xfrm>
            <a:off x="228600" y="187044"/>
            <a:ext cx="10515600" cy="517024"/>
          </a:xfrm>
          <a:prstGeom prst="rect">
            <a:avLst/>
          </a:prstGeom>
          <a:noFill/>
          <a:ln>
            <a:noFill/>
          </a:ln>
        </p:spPr>
        <p:txBody>
          <a:bodyPr spcFirstLastPara="1" wrap="square" lIns="91400" tIns="45675" rIns="91400" bIns="45675" anchor="ctr" anchorCtr="0">
            <a:spAutoFit/>
          </a:bodyPr>
          <a:lstStyle>
            <a:lvl1pPr lvl="0" algn="l">
              <a:lnSpc>
                <a:spcPct val="90000"/>
              </a:lnSpc>
              <a:spcBef>
                <a:spcPts val="0"/>
              </a:spcBef>
              <a:spcAft>
                <a:spcPts val="0"/>
              </a:spcAft>
              <a:buClr>
                <a:schemeClr val="dk1"/>
              </a:buClr>
              <a:buSzPts val="3000"/>
              <a:buFont typeface="Georgia"/>
              <a:buNone/>
              <a:defRPr sz="3100">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gf3a8d4be09_2_86"/>
          <p:cNvSpPr txBox="1">
            <a:spLocks noGrp="1"/>
          </p:cNvSpPr>
          <p:nvPr>
            <p:ph type="sldNum" idx="12"/>
          </p:nvPr>
        </p:nvSpPr>
        <p:spPr>
          <a:xfrm>
            <a:off x="11639549" y="6350003"/>
            <a:ext cx="390600" cy="288900"/>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cxnSp>
        <p:nvCxnSpPr>
          <p:cNvPr id="25" name="Google Shape;25;gf3a8d4be09_2_86"/>
          <p:cNvCxnSpPr/>
          <p:nvPr/>
        </p:nvCxnSpPr>
        <p:spPr>
          <a:xfrm>
            <a:off x="0" y="6457951"/>
            <a:ext cx="9608400" cy="0"/>
          </a:xfrm>
          <a:prstGeom prst="straightConnector1">
            <a:avLst/>
          </a:prstGeom>
          <a:noFill/>
          <a:ln w="9525" cap="flat" cmpd="sng">
            <a:solidFill>
              <a:schemeClr val="accent1"/>
            </a:solidFill>
            <a:prstDash val="solid"/>
            <a:miter lim="800000"/>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6_Title and Content">
    <p:spTree>
      <p:nvGrpSpPr>
        <p:cNvPr id="1" name="Shape 26"/>
        <p:cNvGrpSpPr/>
        <p:nvPr/>
      </p:nvGrpSpPr>
      <p:grpSpPr>
        <a:xfrm>
          <a:off x="0" y="0"/>
          <a:ext cx="0" cy="0"/>
          <a:chOff x="0" y="0"/>
          <a:chExt cx="0" cy="0"/>
        </a:xfrm>
      </p:grpSpPr>
      <p:sp>
        <p:nvSpPr>
          <p:cNvPr id="27" name="Google Shape;27;p61"/>
          <p:cNvSpPr/>
          <p:nvPr/>
        </p:nvSpPr>
        <p:spPr>
          <a:xfrm>
            <a:off x="0" y="13"/>
            <a:ext cx="12192000" cy="819151"/>
          </a:xfrm>
          <a:prstGeom prst="rect">
            <a:avLst/>
          </a:prstGeom>
          <a:solidFill>
            <a:srgbClr val="D5DBE5"/>
          </a:solidFill>
          <a:ln>
            <a:noFill/>
          </a:ln>
        </p:spPr>
        <p:txBody>
          <a:bodyPr spcFirstLastPara="1" wrap="square" lIns="91400" tIns="45675" rIns="91400" bIns="45675"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dirty="0">
              <a:solidFill>
                <a:schemeClr val="lt1"/>
              </a:solidFill>
              <a:latin typeface="Calibri"/>
              <a:ea typeface="Calibri"/>
              <a:cs typeface="Calibri"/>
              <a:sym typeface="Calibri"/>
            </a:endParaRPr>
          </a:p>
        </p:txBody>
      </p:sp>
      <p:sp>
        <p:nvSpPr>
          <p:cNvPr id="28" name="Google Shape;28;p61"/>
          <p:cNvSpPr txBox="1">
            <a:spLocks noGrp="1"/>
          </p:cNvSpPr>
          <p:nvPr>
            <p:ph type="title"/>
          </p:nvPr>
        </p:nvSpPr>
        <p:spPr>
          <a:xfrm>
            <a:off x="228600" y="184714"/>
            <a:ext cx="10515600" cy="521639"/>
          </a:xfrm>
          <a:prstGeom prst="rect">
            <a:avLst/>
          </a:prstGeom>
          <a:noFill/>
          <a:ln>
            <a:noFill/>
          </a:ln>
        </p:spPr>
        <p:txBody>
          <a:bodyPr spcFirstLastPara="1" wrap="square" lIns="91400" tIns="45675" rIns="91400" bIns="45675" anchor="ctr" anchorCtr="0">
            <a:spAutoFit/>
          </a:bodyPr>
          <a:lstStyle>
            <a:lvl1pPr lvl="0" algn="l">
              <a:lnSpc>
                <a:spcPct val="90000"/>
              </a:lnSpc>
              <a:spcBef>
                <a:spcPts val="0"/>
              </a:spcBef>
              <a:spcAft>
                <a:spcPts val="0"/>
              </a:spcAft>
              <a:buClr>
                <a:schemeClr val="dk1"/>
              </a:buClr>
              <a:buSzPts val="2300"/>
              <a:buFont typeface="Georgia"/>
              <a:buNone/>
              <a:defRPr sz="310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9" name="Google Shape;29;p61"/>
          <p:cNvSpPr txBox="1">
            <a:spLocks noGrp="1"/>
          </p:cNvSpPr>
          <p:nvPr>
            <p:ph type="sldNum" idx="12"/>
          </p:nvPr>
        </p:nvSpPr>
        <p:spPr>
          <a:xfrm>
            <a:off x="11639552" y="6350000"/>
            <a:ext cx="390525" cy="2889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cxnSp>
        <p:nvCxnSpPr>
          <p:cNvPr id="30" name="Google Shape;30;p61"/>
          <p:cNvCxnSpPr/>
          <p:nvPr/>
        </p:nvCxnSpPr>
        <p:spPr>
          <a:xfrm>
            <a:off x="13" y="6457951"/>
            <a:ext cx="9608457" cy="0"/>
          </a:xfrm>
          <a:prstGeom prst="straightConnector1">
            <a:avLst/>
          </a:prstGeom>
          <a:noFill/>
          <a:ln w="9525" cap="flat" cmpd="sng">
            <a:solidFill>
              <a:schemeClr val="accent1"/>
            </a:solidFill>
            <a:prstDash val="solid"/>
            <a:miter lim="800000"/>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40"/>
          <p:cNvSpPr txBox="1">
            <a:spLocks noGrp="1"/>
          </p:cNvSpPr>
          <p:nvPr>
            <p:ph type="title"/>
          </p:nvPr>
        </p:nvSpPr>
        <p:spPr>
          <a:xfrm>
            <a:off x="831851" y="1709750"/>
            <a:ext cx="10515600" cy="2852737"/>
          </a:xfrm>
          <a:prstGeom prst="rect">
            <a:avLst/>
          </a:prstGeom>
          <a:noFill/>
          <a:ln>
            <a:noFill/>
          </a:ln>
        </p:spPr>
        <p:txBody>
          <a:bodyPr spcFirstLastPara="1" wrap="square" lIns="91400" tIns="45675" rIns="91400" bIns="45675"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40"/>
          <p:cNvSpPr txBox="1">
            <a:spLocks noGrp="1"/>
          </p:cNvSpPr>
          <p:nvPr>
            <p:ph type="body" idx="1"/>
          </p:nvPr>
        </p:nvSpPr>
        <p:spPr>
          <a:xfrm>
            <a:off x="831851" y="4589465"/>
            <a:ext cx="10515600" cy="1500187"/>
          </a:xfrm>
          <a:prstGeom prst="rect">
            <a:avLst/>
          </a:prstGeom>
          <a:noFill/>
          <a:ln>
            <a:noFill/>
          </a:ln>
        </p:spPr>
        <p:txBody>
          <a:bodyPr spcFirstLastPara="1" wrap="square" lIns="91400" tIns="45675" rIns="91400" bIns="45675"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9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40"/>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35" name="Google Shape;35;p40"/>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36" name="Google Shape;36;p40"/>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7"/>
        <p:cNvGrpSpPr/>
        <p:nvPr/>
      </p:nvGrpSpPr>
      <p:grpSpPr>
        <a:xfrm>
          <a:off x="0" y="0"/>
          <a:ext cx="0" cy="0"/>
          <a:chOff x="0" y="0"/>
          <a:chExt cx="0" cy="0"/>
        </a:xfrm>
      </p:grpSpPr>
      <p:sp>
        <p:nvSpPr>
          <p:cNvPr id="38" name="Google Shape;38;p43"/>
          <p:cNvSpPr txBox="1">
            <a:spLocks noGrp="1"/>
          </p:cNvSpPr>
          <p:nvPr>
            <p:ph type="title"/>
          </p:nvPr>
        </p:nvSpPr>
        <p:spPr>
          <a:xfrm>
            <a:off x="838200" y="365125"/>
            <a:ext cx="10515600" cy="1325563"/>
          </a:xfrm>
          <a:prstGeom prst="rect">
            <a:avLst/>
          </a:prstGeom>
          <a:noFill/>
          <a:ln>
            <a:noFill/>
          </a:ln>
        </p:spPr>
        <p:txBody>
          <a:bodyPr spcFirstLastPara="1" wrap="square" lIns="91400" tIns="45675" rIns="91400" bIns="45675"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43"/>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40" name="Google Shape;40;p43"/>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41" name="Google Shape;41;p43"/>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2"/>
        <p:cNvGrpSpPr/>
        <p:nvPr/>
      </p:nvGrpSpPr>
      <p:grpSpPr>
        <a:xfrm>
          <a:off x="0" y="0"/>
          <a:ext cx="0" cy="0"/>
          <a:chOff x="0" y="0"/>
          <a:chExt cx="0" cy="0"/>
        </a:xfrm>
      </p:grpSpPr>
      <p:sp>
        <p:nvSpPr>
          <p:cNvPr id="43" name="Google Shape;43;p44"/>
          <p:cNvSpPr txBox="1">
            <a:spLocks noGrp="1"/>
          </p:cNvSpPr>
          <p:nvPr>
            <p:ph type="title"/>
          </p:nvPr>
        </p:nvSpPr>
        <p:spPr>
          <a:xfrm>
            <a:off x="839788" y="457200"/>
            <a:ext cx="3932237" cy="1600200"/>
          </a:xfrm>
          <a:prstGeom prst="rect">
            <a:avLst/>
          </a:prstGeom>
          <a:noFill/>
          <a:ln>
            <a:noFill/>
          </a:ln>
        </p:spPr>
        <p:txBody>
          <a:bodyPr spcFirstLastPara="1" wrap="square" lIns="91400" tIns="45675" rIns="91400" bIns="45675"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44"/>
          <p:cNvSpPr txBox="1">
            <a:spLocks noGrp="1"/>
          </p:cNvSpPr>
          <p:nvPr>
            <p:ph type="body" idx="1"/>
          </p:nvPr>
        </p:nvSpPr>
        <p:spPr>
          <a:xfrm>
            <a:off x="5183188" y="987437"/>
            <a:ext cx="6172200" cy="4873625"/>
          </a:xfrm>
          <a:prstGeom prst="rect">
            <a:avLst/>
          </a:prstGeom>
          <a:noFill/>
          <a:ln>
            <a:noFill/>
          </a:ln>
        </p:spPr>
        <p:txBody>
          <a:bodyPr spcFirstLastPara="1" wrap="square" lIns="91400" tIns="45675" rIns="91400" bIns="45675"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45" name="Google Shape;45;p44"/>
          <p:cNvSpPr txBox="1">
            <a:spLocks noGrp="1"/>
          </p:cNvSpPr>
          <p:nvPr>
            <p:ph type="body" idx="2"/>
          </p:nvPr>
        </p:nvSpPr>
        <p:spPr>
          <a:xfrm>
            <a:off x="839788" y="2057403"/>
            <a:ext cx="3932237" cy="3811588"/>
          </a:xfrm>
          <a:prstGeom prst="rect">
            <a:avLst/>
          </a:prstGeom>
          <a:noFill/>
          <a:ln>
            <a:noFill/>
          </a:ln>
        </p:spPr>
        <p:txBody>
          <a:bodyPr spcFirstLastPara="1" wrap="square" lIns="91400" tIns="45675" rIns="91400" bIns="45675"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5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100"/>
            </a:lvl4pPr>
            <a:lvl5pPr marL="2286000" lvl="4" indent="-228600" algn="l">
              <a:lnSpc>
                <a:spcPct val="90000"/>
              </a:lnSpc>
              <a:spcBef>
                <a:spcPts val="500"/>
              </a:spcBef>
              <a:spcAft>
                <a:spcPts val="0"/>
              </a:spcAft>
              <a:buClr>
                <a:schemeClr val="dk1"/>
              </a:buClr>
              <a:buSzPts val="1000"/>
              <a:buNone/>
              <a:defRPr sz="1100"/>
            </a:lvl5pPr>
            <a:lvl6pPr marL="2743200" lvl="5" indent="-228600" algn="l">
              <a:lnSpc>
                <a:spcPct val="90000"/>
              </a:lnSpc>
              <a:spcBef>
                <a:spcPts val="500"/>
              </a:spcBef>
              <a:spcAft>
                <a:spcPts val="0"/>
              </a:spcAft>
              <a:buClr>
                <a:schemeClr val="dk1"/>
              </a:buClr>
              <a:buSzPts val="1000"/>
              <a:buNone/>
              <a:defRPr sz="1100"/>
            </a:lvl6pPr>
            <a:lvl7pPr marL="3200400" lvl="6" indent="-228600" algn="l">
              <a:lnSpc>
                <a:spcPct val="90000"/>
              </a:lnSpc>
              <a:spcBef>
                <a:spcPts val="500"/>
              </a:spcBef>
              <a:spcAft>
                <a:spcPts val="0"/>
              </a:spcAft>
              <a:buClr>
                <a:schemeClr val="dk1"/>
              </a:buClr>
              <a:buSzPts val="1000"/>
              <a:buNone/>
              <a:defRPr sz="1100"/>
            </a:lvl7pPr>
            <a:lvl8pPr marL="3657600" lvl="7" indent="-228600" algn="l">
              <a:lnSpc>
                <a:spcPct val="90000"/>
              </a:lnSpc>
              <a:spcBef>
                <a:spcPts val="500"/>
              </a:spcBef>
              <a:spcAft>
                <a:spcPts val="0"/>
              </a:spcAft>
              <a:buClr>
                <a:schemeClr val="dk1"/>
              </a:buClr>
              <a:buSzPts val="1000"/>
              <a:buNone/>
              <a:defRPr sz="1100"/>
            </a:lvl8pPr>
            <a:lvl9pPr marL="4114800" lvl="8" indent="-228600" algn="l">
              <a:lnSpc>
                <a:spcPct val="90000"/>
              </a:lnSpc>
              <a:spcBef>
                <a:spcPts val="500"/>
              </a:spcBef>
              <a:spcAft>
                <a:spcPts val="0"/>
              </a:spcAft>
              <a:buClr>
                <a:schemeClr val="dk1"/>
              </a:buClr>
              <a:buSzPts val="1000"/>
              <a:buNone/>
              <a:defRPr sz="1100"/>
            </a:lvl9pPr>
          </a:lstStyle>
          <a:p>
            <a:endParaRPr/>
          </a:p>
        </p:txBody>
      </p:sp>
      <p:sp>
        <p:nvSpPr>
          <p:cNvPr id="46" name="Google Shape;46;p44"/>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47" name="Google Shape;47;p44"/>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48" name="Google Shape;48;p44"/>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9"/>
        <p:cNvGrpSpPr/>
        <p:nvPr/>
      </p:nvGrpSpPr>
      <p:grpSpPr>
        <a:xfrm>
          <a:off x="0" y="0"/>
          <a:ext cx="0" cy="0"/>
          <a:chOff x="0" y="0"/>
          <a:chExt cx="0" cy="0"/>
        </a:xfrm>
      </p:grpSpPr>
      <p:sp>
        <p:nvSpPr>
          <p:cNvPr id="50" name="Google Shape;50;p45"/>
          <p:cNvSpPr txBox="1">
            <a:spLocks noGrp="1"/>
          </p:cNvSpPr>
          <p:nvPr>
            <p:ph type="title"/>
          </p:nvPr>
        </p:nvSpPr>
        <p:spPr>
          <a:xfrm>
            <a:off x="839788" y="457200"/>
            <a:ext cx="3932237" cy="1600200"/>
          </a:xfrm>
          <a:prstGeom prst="rect">
            <a:avLst/>
          </a:prstGeom>
          <a:noFill/>
          <a:ln>
            <a:noFill/>
          </a:ln>
        </p:spPr>
        <p:txBody>
          <a:bodyPr spcFirstLastPara="1" wrap="square" lIns="91400" tIns="45675" rIns="91400" bIns="45675"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45"/>
          <p:cNvSpPr>
            <a:spLocks noGrp="1"/>
          </p:cNvSpPr>
          <p:nvPr>
            <p:ph type="pic" idx="2"/>
          </p:nvPr>
        </p:nvSpPr>
        <p:spPr>
          <a:xfrm>
            <a:off x="5183188" y="987437"/>
            <a:ext cx="6172200" cy="4873625"/>
          </a:xfrm>
          <a:prstGeom prst="rect">
            <a:avLst/>
          </a:prstGeom>
          <a:noFill/>
          <a:ln>
            <a:noFill/>
          </a:ln>
        </p:spPr>
      </p:sp>
      <p:sp>
        <p:nvSpPr>
          <p:cNvPr id="52" name="Google Shape;52;p45"/>
          <p:cNvSpPr txBox="1">
            <a:spLocks noGrp="1"/>
          </p:cNvSpPr>
          <p:nvPr>
            <p:ph type="body" idx="1"/>
          </p:nvPr>
        </p:nvSpPr>
        <p:spPr>
          <a:xfrm>
            <a:off x="839788" y="2057403"/>
            <a:ext cx="3932237" cy="3811588"/>
          </a:xfrm>
          <a:prstGeom prst="rect">
            <a:avLst/>
          </a:prstGeom>
          <a:noFill/>
          <a:ln>
            <a:noFill/>
          </a:ln>
        </p:spPr>
        <p:txBody>
          <a:bodyPr spcFirstLastPara="1" wrap="square" lIns="91400" tIns="45675" rIns="91400" bIns="45675"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5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100"/>
            </a:lvl4pPr>
            <a:lvl5pPr marL="2286000" lvl="4" indent="-228600" algn="l">
              <a:lnSpc>
                <a:spcPct val="90000"/>
              </a:lnSpc>
              <a:spcBef>
                <a:spcPts val="500"/>
              </a:spcBef>
              <a:spcAft>
                <a:spcPts val="0"/>
              </a:spcAft>
              <a:buClr>
                <a:schemeClr val="dk1"/>
              </a:buClr>
              <a:buSzPts val="1000"/>
              <a:buNone/>
              <a:defRPr sz="1100"/>
            </a:lvl5pPr>
            <a:lvl6pPr marL="2743200" lvl="5" indent="-228600" algn="l">
              <a:lnSpc>
                <a:spcPct val="90000"/>
              </a:lnSpc>
              <a:spcBef>
                <a:spcPts val="500"/>
              </a:spcBef>
              <a:spcAft>
                <a:spcPts val="0"/>
              </a:spcAft>
              <a:buClr>
                <a:schemeClr val="dk1"/>
              </a:buClr>
              <a:buSzPts val="1000"/>
              <a:buNone/>
              <a:defRPr sz="1100"/>
            </a:lvl6pPr>
            <a:lvl7pPr marL="3200400" lvl="6" indent="-228600" algn="l">
              <a:lnSpc>
                <a:spcPct val="90000"/>
              </a:lnSpc>
              <a:spcBef>
                <a:spcPts val="500"/>
              </a:spcBef>
              <a:spcAft>
                <a:spcPts val="0"/>
              </a:spcAft>
              <a:buClr>
                <a:schemeClr val="dk1"/>
              </a:buClr>
              <a:buSzPts val="1000"/>
              <a:buNone/>
              <a:defRPr sz="1100"/>
            </a:lvl7pPr>
            <a:lvl8pPr marL="3657600" lvl="7" indent="-228600" algn="l">
              <a:lnSpc>
                <a:spcPct val="90000"/>
              </a:lnSpc>
              <a:spcBef>
                <a:spcPts val="500"/>
              </a:spcBef>
              <a:spcAft>
                <a:spcPts val="0"/>
              </a:spcAft>
              <a:buClr>
                <a:schemeClr val="dk1"/>
              </a:buClr>
              <a:buSzPts val="1000"/>
              <a:buNone/>
              <a:defRPr sz="1100"/>
            </a:lvl8pPr>
            <a:lvl9pPr marL="4114800" lvl="8" indent="-228600" algn="l">
              <a:lnSpc>
                <a:spcPct val="90000"/>
              </a:lnSpc>
              <a:spcBef>
                <a:spcPts val="500"/>
              </a:spcBef>
              <a:spcAft>
                <a:spcPts val="0"/>
              </a:spcAft>
              <a:buClr>
                <a:schemeClr val="dk1"/>
              </a:buClr>
              <a:buSzPts val="1000"/>
              <a:buNone/>
              <a:defRPr sz="1100"/>
            </a:lvl9pPr>
          </a:lstStyle>
          <a:p>
            <a:endParaRPr/>
          </a:p>
        </p:txBody>
      </p:sp>
      <p:sp>
        <p:nvSpPr>
          <p:cNvPr id="53" name="Google Shape;53;p45"/>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54" name="Google Shape;54;p45"/>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55" name="Google Shape;55;p45"/>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6"/>
        <p:cNvGrpSpPr/>
        <p:nvPr/>
      </p:nvGrpSpPr>
      <p:grpSpPr>
        <a:xfrm>
          <a:off x="0" y="0"/>
          <a:ext cx="0" cy="0"/>
          <a:chOff x="0" y="0"/>
          <a:chExt cx="0" cy="0"/>
        </a:xfrm>
      </p:grpSpPr>
      <p:sp>
        <p:nvSpPr>
          <p:cNvPr id="57" name="Google Shape;57;p46"/>
          <p:cNvSpPr txBox="1">
            <a:spLocks noGrp="1"/>
          </p:cNvSpPr>
          <p:nvPr>
            <p:ph type="title"/>
          </p:nvPr>
        </p:nvSpPr>
        <p:spPr>
          <a:xfrm>
            <a:off x="838200" y="365125"/>
            <a:ext cx="10515600" cy="1325563"/>
          </a:xfrm>
          <a:prstGeom prst="rect">
            <a:avLst/>
          </a:prstGeom>
          <a:noFill/>
          <a:ln>
            <a:noFill/>
          </a:ln>
        </p:spPr>
        <p:txBody>
          <a:bodyPr spcFirstLastPara="1" wrap="square" lIns="91400" tIns="45675" rIns="91400" bIns="45675"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46"/>
          <p:cNvSpPr txBox="1">
            <a:spLocks noGrp="1"/>
          </p:cNvSpPr>
          <p:nvPr>
            <p:ph type="body" idx="1"/>
          </p:nvPr>
        </p:nvSpPr>
        <p:spPr>
          <a:xfrm rot="5400000">
            <a:off x="3920333" y="-1256507"/>
            <a:ext cx="4351339" cy="10515600"/>
          </a:xfrm>
          <a:prstGeom prst="rect">
            <a:avLst/>
          </a:prstGeom>
          <a:noFill/>
          <a:ln>
            <a:noFill/>
          </a:ln>
        </p:spPr>
        <p:txBody>
          <a:bodyPr spcFirstLastPara="1" wrap="square" lIns="91400" tIns="45675" rIns="91400" bIns="45675"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46"/>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60" name="Google Shape;60;p46"/>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61" name="Google Shape;61;p46"/>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2"/>
        <p:cNvGrpSpPr/>
        <p:nvPr/>
      </p:nvGrpSpPr>
      <p:grpSpPr>
        <a:xfrm>
          <a:off x="0" y="0"/>
          <a:ext cx="0" cy="0"/>
          <a:chOff x="0" y="0"/>
          <a:chExt cx="0" cy="0"/>
        </a:xfrm>
      </p:grpSpPr>
      <p:sp>
        <p:nvSpPr>
          <p:cNvPr id="63" name="Google Shape;63;p47"/>
          <p:cNvSpPr txBox="1">
            <a:spLocks noGrp="1"/>
          </p:cNvSpPr>
          <p:nvPr>
            <p:ph type="title"/>
          </p:nvPr>
        </p:nvSpPr>
        <p:spPr>
          <a:xfrm rot="5400000">
            <a:off x="7133442" y="1956595"/>
            <a:ext cx="5811839" cy="2628900"/>
          </a:xfrm>
          <a:prstGeom prst="rect">
            <a:avLst/>
          </a:prstGeom>
          <a:noFill/>
          <a:ln>
            <a:noFill/>
          </a:ln>
        </p:spPr>
        <p:txBody>
          <a:bodyPr spcFirstLastPara="1" wrap="square" lIns="91400" tIns="45675" rIns="91400" bIns="45675"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47"/>
          <p:cNvSpPr txBox="1">
            <a:spLocks noGrp="1"/>
          </p:cNvSpPr>
          <p:nvPr>
            <p:ph type="body" idx="1"/>
          </p:nvPr>
        </p:nvSpPr>
        <p:spPr>
          <a:xfrm rot="5400000">
            <a:off x="1799442" y="-596106"/>
            <a:ext cx="5811839" cy="7734300"/>
          </a:xfrm>
          <a:prstGeom prst="rect">
            <a:avLst/>
          </a:prstGeom>
          <a:noFill/>
          <a:ln>
            <a:noFill/>
          </a:ln>
        </p:spPr>
        <p:txBody>
          <a:bodyPr spcFirstLastPara="1" wrap="square" lIns="91400" tIns="45675" rIns="91400" bIns="45675"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47"/>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66" name="Google Shape;66;p47"/>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67" name="Google Shape;67;p47"/>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5"/>
          <p:cNvSpPr txBox="1">
            <a:spLocks noGrp="1"/>
          </p:cNvSpPr>
          <p:nvPr>
            <p:ph type="title"/>
          </p:nvPr>
        </p:nvSpPr>
        <p:spPr>
          <a:xfrm>
            <a:off x="838200" y="365125"/>
            <a:ext cx="10515600" cy="1325563"/>
          </a:xfrm>
          <a:prstGeom prst="rect">
            <a:avLst/>
          </a:prstGeom>
          <a:noFill/>
          <a:ln>
            <a:noFill/>
          </a:ln>
        </p:spPr>
        <p:txBody>
          <a:bodyPr spcFirstLastPara="1" wrap="square" lIns="91400" tIns="45675" rIns="91400" bIns="45675"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35"/>
          <p:cNvSpPr txBox="1">
            <a:spLocks noGrp="1"/>
          </p:cNvSpPr>
          <p:nvPr>
            <p:ph type="body" idx="1"/>
          </p:nvPr>
        </p:nvSpPr>
        <p:spPr>
          <a:xfrm>
            <a:off x="838200" y="1825625"/>
            <a:ext cx="10515600" cy="4351339"/>
          </a:xfrm>
          <a:prstGeom prst="rect">
            <a:avLst/>
          </a:prstGeom>
          <a:noFill/>
          <a:ln>
            <a:noFill/>
          </a:ln>
        </p:spPr>
        <p:txBody>
          <a:bodyPr spcFirstLastPara="1" wrap="square" lIns="91400" tIns="45675" rIns="91400" bIns="45675"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35"/>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9pPr>
          </a:lstStyle>
          <a:p>
            <a:endParaRPr dirty="0"/>
          </a:p>
        </p:txBody>
      </p:sp>
      <p:sp>
        <p:nvSpPr>
          <p:cNvPr id="13" name="Google Shape;13;p35"/>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9pPr>
          </a:lstStyle>
          <a:p>
            <a:endParaRPr dirty="0"/>
          </a:p>
        </p:txBody>
      </p:sp>
      <p:sp>
        <p:nvSpPr>
          <p:cNvPr id="14" name="Google Shape;14;p35"/>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500" dirty="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6.jpeg"/><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4.jpg"/><Relationship Id="rId4" Type="http://schemas.microsoft.com/office/2007/relationships/hdphoto" Target="../media/hdphoto2.wdp"/></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Shape 71"/>
        <p:cNvGrpSpPr/>
        <p:nvPr/>
      </p:nvGrpSpPr>
      <p:grpSpPr>
        <a:xfrm>
          <a:off x="0" y="0"/>
          <a:ext cx="0" cy="0"/>
          <a:chOff x="0" y="0"/>
          <a:chExt cx="0" cy="0"/>
        </a:xfrm>
      </p:grpSpPr>
      <p:pic>
        <p:nvPicPr>
          <p:cNvPr id="5122" name="Picture 2">
            <a:extLst>
              <a:ext uri="{FF2B5EF4-FFF2-40B4-BE49-F238E27FC236}">
                <a16:creationId xmlns:a16="http://schemas.microsoft.com/office/drawing/2014/main" id="{595E6082-1670-4FDB-F683-5BAA32513E8C}"/>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0" y="-884903"/>
            <a:ext cx="12192000" cy="7742903"/>
          </a:xfrm>
          <a:prstGeom prst="rect">
            <a:avLst/>
          </a:prstGeom>
          <a:noFill/>
          <a:effectLst>
            <a:glow rad="127000">
              <a:schemeClr val="accent1">
                <a:alpha val="0"/>
              </a:schemeClr>
            </a:glow>
          </a:effectLst>
          <a:extLst>
            <a:ext uri="{909E8E84-426E-40DD-AFC4-6F175D3DCCD1}">
              <a14:hiddenFill xmlns:a14="http://schemas.microsoft.com/office/drawing/2010/main">
                <a:solidFill>
                  <a:srgbClr val="FFFFFF"/>
                </a:solidFill>
              </a14:hiddenFill>
            </a:ext>
          </a:extLst>
        </p:spPr>
      </p:pic>
      <p:sp>
        <p:nvSpPr>
          <p:cNvPr id="72" name="Google Shape;72;p1"/>
          <p:cNvSpPr txBox="1">
            <a:spLocks noGrp="1"/>
          </p:cNvSpPr>
          <p:nvPr>
            <p:ph type="title"/>
          </p:nvPr>
        </p:nvSpPr>
        <p:spPr>
          <a:xfrm>
            <a:off x="165464" y="2826294"/>
            <a:ext cx="11861072" cy="1205412"/>
          </a:xfrm>
          <a:prstGeom prst="rect">
            <a:avLst/>
          </a:prstGeom>
          <a:noFill/>
          <a:ln>
            <a:noFill/>
          </a:ln>
          <a:effectLst>
            <a:glow rad="1905000">
              <a:schemeClr val="accent1"/>
            </a:glow>
          </a:effectLst>
        </p:spPr>
        <p:txBody>
          <a:bodyPr spcFirstLastPara="1" wrap="square" lIns="91400" tIns="45675" rIns="91400" bIns="45675" anchor="ctr" anchorCtr="0">
            <a:normAutofit fontScale="90000"/>
          </a:bodyPr>
          <a:lstStyle/>
          <a:p>
            <a:pPr lvl="0" algn="ctr"/>
            <a:r>
              <a:rPr lang="en-US" b="1" dirty="0">
                <a:effectLst>
                  <a:outerShdw blurRad="38100" dist="38100" dir="2700000" algn="tl">
                    <a:srgbClr val="000000">
                      <a:alpha val="43137"/>
                    </a:srgbClr>
                  </a:outerShdw>
                </a:effectLst>
              </a:rPr>
              <a:t>IVF-Analysis: A Data-Driven Early Outcome Risk Intelligence System</a:t>
            </a:r>
            <a:endParaRPr b="1" dirty="0">
              <a:effectLst>
                <a:outerShdw blurRad="38100" dist="38100" dir="2700000" algn="tl">
                  <a:srgbClr val="000000">
                    <a:alpha val="43137"/>
                  </a:srgbClr>
                </a:outerShdw>
              </a:effectLst>
            </a:endParaRPr>
          </a:p>
        </p:txBody>
      </p:sp>
      <p:sp>
        <p:nvSpPr>
          <p:cNvPr id="74" name="Google Shape;74;p1"/>
          <p:cNvSpPr txBox="1"/>
          <p:nvPr/>
        </p:nvSpPr>
        <p:spPr>
          <a:xfrm>
            <a:off x="242944" y="860611"/>
            <a:ext cx="3537600" cy="492400"/>
          </a:xfrm>
          <a:prstGeom prst="rect">
            <a:avLst/>
          </a:prstGeom>
          <a:noFill/>
          <a:ln>
            <a:noFill/>
          </a:ln>
        </p:spPr>
        <p:txBody>
          <a:bodyPr spcFirstLastPara="1" wrap="square" lIns="121875" tIns="60925" rIns="121875" bIns="60925"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rgbClr val="000000"/>
              </a:solidFill>
              <a:latin typeface="Times New Roman"/>
              <a:ea typeface="Times New Roman"/>
              <a:cs typeface="Times New Roman"/>
              <a:sym typeface="Times New Roman"/>
            </a:endParaRPr>
          </a:p>
        </p:txBody>
      </p:sp>
      <p:pic>
        <p:nvPicPr>
          <p:cNvPr id="75" name="Google Shape;75;p1"/>
          <p:cNvPicPr preferRelativeResize="0"/>
          <p:nvPr/>
        </p:nvPicPr>
        <p:blipFill rotWithShape="1">
          <a:blip r:embed="rId6">
            <a:alphaModFix/>
          </a:blip>
          <a:srcRect/>
          <a:stretch/>
        </p:blipFill>
        <p:spPr>
          <a:xfrm>
            <a:off x="14086508" y="11637873"/>
            <a:ext cx="158226" cy="163709"/>
          </a:xfrm>
          <a:prstGeom prst="rect">
            <a:avLst/>
          </a:prstGeom>
          <a:noFill/>
          <a:ln>
            <a:noFill/>
          </a:ln>
        </p:spPr>
      </p:pic>
      <p:pic>
        <p:nvPicPr>
          <p:cNvPr id="76" name="Google Shape;76;p1" descr="360DigiTMG Reviews - 52 Reviews of 360digitmg.com | Sitejabber"/>
          <p:cNvPicPr preferRelativeResize="0"/>
          <p:nvPr/>
        </p:nvPicPr>
        <p:blipFill rotWithShape="1">
          <a:blip r:embed="rId7">
            <a:alphaModFix/>
          </a:blip>
          <a:srcRect/>
          <a:stretch/>
        </p:blipFill>
        <p:spPr>
          <a:xfrm>
            <a:off x="9751545" y="5952931"/>
            <a:ext cx="2277039" cy="80833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Shape 80"/>
        <p:cNvGrpSpPr/>
        <p:nvPr/>
      </p:nvGrpSpPr>
      <p:grpSpPr>
        <a:xfrm>
          <a:off x="0" y="0"/>
          <a:ext cx="0" cy="0"/>
          <a:chOff x="0" y="0"/>
          <a:chExt cx="0" cy="0"/>
        </a:xfrm>
      </p:grpSpPr>
      <p:sp>
        <p:nvSpPr>
          <p:cNvPr id="81" name="Google Shape;81;gf3a8d4be09_2_180"/>
          <p:cNvSpPr txBox="1">
            <a:spLocks noGrp="1"/>
          </p:cNvSpPr>
          <p:nvPr>
            <p:ph type="title"/>
          </p:nvPr>
        </p:nvSpPr>
        <p:spPr>
          <a:xfrm>
            <a:off x="163275" y="0"/>
            <a:ext cx="10515600" cy="535500"/>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3000"/>
              <a:buFont typeface="Georgia"/>
              <a:buNone/>
            </a:pPr>
            <a:r>
              <a:rPr lang="en-US" sz="3200" b="1" dirty="0">
                <a:latin typeface="Times New Roman"/>
                <a:ea typeface="Times New Roman"/>
                <a:cs typeface="Times New Roman"/>
                <a:sym typeface="Times New Roman"/>
              </a:rPr>
              <a:t>Contents</a:t>
            </a:r>
            <a:endParaRPr sz="3200" b="1" dirty="0">
              <a:latin typeface="Times New Roman"/>
              <a:ea typeface="Times New Roman"/>
              <a:cs typeface="Times New Roman"/>
              <a:sym typeface="Times New Roman"/>
            </a:endParaRPr>
          </a:p>
        </p:txBody>
      </p:sp>
      <p:sp>
        <p:nvSpPr>
          <p:cNvPr id="82" name="Google Shape;82;gf3a8d4be09_2_180"/>
          <p:cNvSpPr txBox="1">
            <a:spLocks noGrp="1"/>
          </p:cNvSpPr>
          <p:nvPr>
            <p:ph type="sldNum" idx="12"/>
          </p:nvPr>
        </p:nvSpPr>
        <p:spPr>
          <a:xfrm>
            <a:off x="11639549" y="6350003"/>
            <a:ext cx="390600" cy="288900"/>
          </a:xfrm>
          <a:prstGeom prst="rect">
            <a:avLst/>
          </a:prstGeom>
          <a:noFill/>
          <a:ln>
            <a:noFill/>
          </a:ln>
        </p:spPr>
        <p:txBody>
          <a:bodyPr spcFirstLastPara="1" wrap="square" lIns="91400" tIns="45675" rIns="91400" bIns="45675"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dirty="0"/>
          </a:p>
        </p:txBody>
      </p:sp>
      <p:sp>
        <p:nvSpPr>
          <p:cNvPr id="83" name="Google Shape;83;gf3a8d4be09_2_180"/>
          <p:cNvSpPr txBox="1"/>
          <p:nvPr/>
        </p:nvSpPr>
        <p:spPr>
          <a:xfrm>
            <a:off x="383125" y="1149375"/>
            <a:ext cx="11034000" cy="2844600"/>
          </a:xfrm>
          <a:prstGeom prst="rect">
            <a:avLst/>
          </a:prstGeom>
          <a:noFill/>
          <a:ln>
            <a:noFill/>
          </a:ln>
        </p:spPr>
        <p:txBody>
          <a:bodyPr spcFirstLastPara="1" wrap="square" lIns="91425" tIns="91425" rIns="91425" bIns="91425" anchor="t" anchorCtr="0">
            <a:spAutoFit/>
          </a:bodyPr>
          <a:lstStyle/>
          <a:p>
            <a:pPr marL="457200" marR="0" lvl="0" indent="-431800" algn="l" rtl="0">
              <a:lnSpc>
                <a:spcPct val="90000"/>
              </a:lnSpc>
              <a:spcBef>
                <a:spcPts val="0"/>
              </a:spcBef>
              <a:spcAft>
                <a:spcPts val="0"/>
              </a:spcAft>
              <a:buClr>
                <a:schemeClr val="dk1"/>
              </a:buClr>
              <a:buSzPts val="3200"/>
              <a:buFont typeface="Times New Roman"/>
              <a:buChar char="●"/>
            </a:pPr>
            <a:r>
              <a:rPr lang="en-US" sz="3200" b="0" i="0" u="none" strike="noStrike" cap="none" dirty="0">
                <a:solidFill>
                  <a:schemeClr val="dk1"/>
                </a:solidFill>
                <a:latin typeface="Times New Roman"/>
                <a:ea typeface="Times New Roman"/>
                <a:cs typeface="Times New Roman"/>
                <a:sym typeface="Times New Roman"/>
              </a:rPr>
              <a:t>Business Objective</a:t>
            </a:r>
            <a:endParaRPr sz="3200" b="0" i="0" u="none" strike="noStrike" cap="none" dirty="0">
              <a:solidFill>
                <a:schemeClr val="dk1"/>
              </a:solidFill>
              <a:latin typeface="Times New Roman"/>
              <a:ea typeface="Times New Roman"/>
              <a:cs typeface="Times New Roman"/>
              <a:sym typeface="Times New Roman"/>
            </a:endParaRPr>
          </a:p>
          <a:p>
            <a:pPr marL="457200" marR="0" lvl="0" indent="-431800" algn="l" rtl="0">
              <a:lnSpc>
                <a:spcPct val="90000"/>
              </a:lnSpc>
              <a:spcBef>
                <a:spcPts val="0"/>
              </a:spcBef>
              <a:spcAft>
                <a:spcPts val="0"/>
              </a:spcAft>
              <a:buClr>
                <a:schemeClr val="dk1"/>
              </a:buClr>
              <a:buSzPts val="3200"/>
              <a:buFont typeface="Times New Roman"/>
              <a:buChar char="●"/>
            </a:pPr>
            <a:r>
              <a:rPr lang="en-US" sz="3200" b="0" i="0" u="none" strike="noStrike" cap="none" dirty="0">
                <a:solidFill>
                  <a:schemeClr val="dk1"/>
                </a:solidFill>
                <a:latin typeface="Times New Roman"/>
                <a:ea typeface="Times New Roman"/>
                <a:cs typeface="Times New Roman"/>
                <a:sym typeface="Times New Roman"/>
              </a:rPr>
              <a:t>Business Constraints</a:t>
            </a:r>
            <a:endParaRPr sz="3200" b="0" i="0" u="none" strike="noStrike" cap="none" dirty="0">
              <a:solidFill>
                <a:schemeClr val="dk1"/>
              </a:solidFill>
              <a:latin typeface="Times New Roman"/>
              <a:ea typeface="Times New Roman"/>
              <a:cs typeface="Times New Roman"/>
              <a:sym typeface="Times New Roman"/>
            </a:endParaRPr>
          </a:p>
          <a:p>
            <a:pPr marL="457200" marR="0" lvl="0" indent="-431800" algn="l" rtl="0">
              <a:lnSpc>
                <a:spcPct val="90000"/>
              </a:lnSpc>
              <a:spcBef>
                <a:spcPts val="0"/>
              </a:spcBef>
              <a:spcAft>
                <a:spcPts val="0"/>
              </a:spcAft>
              <a:buClr>
                <a:schemeClr val="dk1"/>
              </a:buClr>
              <a:buSzPts val="3200"/>
              <a:buFont typeface="Times New Roman"/>
              <a:buChar char="●"/>
            </a:pPr>
            <a:r>
              <a:rPr lang="en-US" sz="3200" b="0" i="0" u="none" strike="noStrike" cap="none" dirty="0">
                <a:solidFill>
                  <a:schemeClr val="dk1"/>
                </a:solidFill>
                <a:latin typeface="Times New Roman"/>
                <a:ea typeface="Times New Roman"/>
                <a:cs typeface="Times New Roman"/>
                <a:sym typeface="Times New Roman"/>
              </a:rPr>
              <a:t>Project Architecture - Data F</a:t>
            </a:r>
            <a:r>
              <a:rPr lang="en-US" sz="3200" dirty="0">
                <a:solidFill>
                  <a:schemeClr val="dk1"/>
                </a:solidFill>
                <a:latin typeface="Times New Roman"/>
                <a:ea typeface="Times New Roman"/>
                <a:cs typeface="Times New Roman"/>
                <a:sym typeface="Times New Roman"/>
              </a:rPr>
              <a:t>low Diagram</a:t>
            </a:r>
            <a:endParaRPr dirty="0"/>
          </a:p>
          <a:p>
            <a:pPr marL="457200" marR="0" lvl="0" indent="-431800" algn="l" rtl="0">
              <a:lnSpc>
                <a:spcPct val="90000"/>
              </a:lnSpc>
              <a:spcBef>
                <a:spcPts val="0"/>
              </a:spcBef>
              <a:spcAft>
                <a:spcPts val="0"/>
              </a:spcAft>
              <a:buClr>
                <a:schemeClr val="dk1"/>
              </a:buClr>
              <a:buSzPts val="3200"/>
              <a:buFont typeface="Times New Roman"/>
              <a:buChar char="●"/>
            </a:pPr>
            <a:r>
              <a:rPr lang="en-US" sz="3200" b="0" i="0" u="none" strike="noStrike" cap="none" dirty="0">
                <a:solidFill>
                  <a:schemeClr val="dk1"/>
                </a:solidFill>
                <a:latin typeface="Times New Roman"/>
                <a:ea typeface="Times New Roman"/>
                <a:cs typeface="Times New Roman"/>
                <a:sym typeface="Times New Roman"/>
              </a:rPr>
              <a:t>Data Collection</a:t>
            </a:r>
            <a:endParaRPr sz="3200" b="0" i="0" u="none" strike="noStrike" cap="none" dirty="0">
              <a:solidFill>
                <a:schemeClr val="dk1"/>
              </a:solidFill>
              <a:latin typeface="Times New Roman"/>
              <a:ea typeface="Times New Roman"/>
              <a:cs typeface="Times New Roman"/>
              <a:sym typeface="Times New Roman"/>
            </a:endParaRPr>
          </a:p>
          <a:p>
            <a:pPr marL="457200" marR="0" lvl="0" indent="-431800" algn="l" rtl="0">
              <a:lnSpc>
                <a:spcPct val="90000"/>
              </a:lnSpc>
              <a:spcBef>
                <a:spcPts val="0"/>
              </a:spcBef>
              <a:spcAft>
                <a:spcPts val="0"/>
              </a:spcAft>
              <a:buClr>
                <a:schemeClr val="dk1"/>
              </a:buClr>
              <a:buSzPts val="3200"/>
              <a:buFont typeface="Times New Roman"/>
              <a:buChar char="●"/>
            </a:pPr>
            <a:r>
              <a:rPr lang="en-US" sz="3200" b="0" i="0" u="none" strike="noStrike" cap="none" dirty="0">
                <a:solidFill>
                  <a:schemeClr val="dk1"/>
                </a:solidFill>
                <a:latin typeface="Times New Roman"/>
                <a:ea typeface="Times New Roman"/>
                <a:cs typeface="Times New Roman"/>
                <a:sym typeface="Times New Roman"/>
              </a:rPr>
              <a:t>Exploratory Data Analysis</a:t>
            </a:r>
            <a:endParaRPr sz="3200" b="0" i="0" u="none" strike="noStrike" cap="none" dirty="0">
              <a:solidFill>
                <a:schemeClr val="dk1"/>
              </a:solidFill>
              <a:latin typeface="Times New Roman"/>
              <a:ea typeface="Times New Roman"/>
              <a:cs typeface="Times New Roman"/>
              <a:sym typeface="Times New Roman"/>
            </a:endParaRPr>
          </a:p>
          <a:p>
            <a:pPr marL="457200" marR="0" lvl="0" indent="-431800" algn="l" rtl="0">
              <a:lnSpc>
                <a:spcPct val="90000"/>
              </a:lnSpc>
              <a:spcBef>
                <a:spcPts val="0"/>
              </a:spcBef>
              <a:spcAft>
                <a:spcPts val="0"/>
              </a:spcAft>
              <a:buClr>
                <a:schemeClr val="dk1"/>
              </a:buClr>
              <a:buSzPts val="3200"/>
              <a:buFont typeface="Times New Roman"/>
              <a:buChar char="●"/>
            </a:pPr>
            <a:r>
              <a:rPr lang="en-US" sz="3200" b="0" i="0" u="none" strike="noStrike" cap="none" dirty="0">
                <a:solidFill>
                  <a:schemeClr val="dk1"/>
                </a:solidFill>
                <a:latin typeface="Times New Roman"/>
                <a:ea typeface="Times New Roman"/>
                <a:cs typeface="Times New Roman"/>
                <a:sym typeface="Times New Roman"/>
              </a:rPr>
              <a:t>Data Visualization</a:t>
            </a:r>
            <a:endParaRPr sz="3200" b="0" i="0" u="none" strike="noStrike" cap="none" dirty="0">
              <a:solidFill>
                <a:schemeClr val="dk1"/>
              </a:solidFill>
              <a:latin typeface="Times New Roman"/>
              <a:ea typeface="Times New Roman"/>
              <a:cs typeface="Times New Roman"/>
              <a:sym typeface="Times New Roman"/>
            </a:endParaRPr>
          </a:p>
        </p:txBody>
      </p:sp>
      <p:pic>
        <p:nvPicPr>
          <p:cNvPr id="84" name="Google Shape;84;gf3a8d4be09_2_180" descr="360DigiTMG Reviews - 52 Reviews of 360digitmg.com | Sitejabber"/>
          <p:cNvPicPr preferRelativeResize="0"/>
          <p:nvPr/>
        </p:nvPicPr>
        <p:blipFill rotWithShape="1">
          <a:blip r:embed="rId3">
            <a:alphaModFix/>
          </a:blip>
          <a:srcRect/>
          <a:stretch/>
        </p:blipFill>
        <p:spPr>
          <a:xfrm>
            <a:off x="9753110" y="5945834"/>
            <a:ext cx="2277039" cy="80833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Shape 88"/>
        <p:cNvGrpSpPr/>
        <p:nvPr/>
      </p:nvGrpSpPr>
      <p:grpSpPr>
        <a:xfrm>
          <a:off x="0" y="0"/>
          <a:ext cx="0" cy="0"/>
          <a:chOff x="0" y="0"/>
          <a:chExt cx="0" cy="0"/>
        </a:xfrm>
      </p:grpSpPr>
      <p:sp>
        <p:nvSpPr>
          <p:cNvPr id="89" name="Google Shape;89;p6"/>
          <p:cNvSpPr txBox="1">
            <a:spLocks noGrp="1"/>
          </p:cNvSpPr>
          <p:nvPr>
            <p:ph type="title"/>
          </p:nvPr>
        </p:nvSpPr>
        <p:spPr>
          <a:xfrm>
            <a:off x="228600" y="177814"/>
            <a:ext cx="10515600" cy="535440"/>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2300"/>
              <a:buFont typeface="Georgia"/>
              <a:buNone/>
            </a:pPr>
            <a:r>
              <a:rPr lang="en-US" sz="3200" b="1" dirty="0">
                <a:latin typeface="Times New Roman"/>
                <a:ea typeface="Times New Roman"/>
                <a:cs typeface="Times New Roman"/>
                <a:sym typeface="Times New Roman"/>
              </a:rPr>
              <a:t>Business</a:t>
            </a:r>
            <a:r>
              <a:rPr lang="en-US" sz="2800" b="1" dirty="0">
                <a:latin typeface="Times New Roman"/>
                <a:ea typeface="Times New Roman"/>
                <a:cs typeface="Times New Roman"/>
                <a:sym typeface="Times New Roman"/>
              </a:rPr>
              <a:t> </a:t>
            </a:r>
            <a:r>
              <a:rPr lang="en-US" sz="3200" b="1" dirty="0">
                <a:latin typeface="Times New Roman"/>
                <a:ea typeface="Times New Roman"/>
                <a:cs typeface="Times New Roman"/>
                <a:sym typeface="Times New Roman"/>
              </a:rPr>
              <a:t>Problem</a:t>
            </a:r>
            <a:endParaRPr sz="3200" b="1" dirty="0">
              <a:latin typeface="Times New Roman"/>
              <a:ea typeface="Times New Roman"/>
              <a:cs typeface="Times New Roman"/>
              <a:sym typeface="Times New Roman"/>
            </a:endParaRPr>
          </a:p>
        </p:txBody>
      </p:sp>
      <p:pic>
        <p:nvPicPr>
          <p:cNvPr id="90" name="Google Shape;90;p6" descr="360DigiTMG Reviews - 52 Reviews of 360digitmg.com | Sitejabber"/>
          <p:cNvPicPr preferRelativeResize="0"/>
          <p:nvPr/>
        </p:nvPicPr>
        <p:blipFill rotWithShape="1">
          <a:blip r:embed="rId3">
            <a:alphaModFix/>
          </a:blip>
          <a:srcRect/>
          <a:stretch/>
        </p:blipFill>
        <p:spPr>
          <a:xfrm>
            <a:off x="9753110" y="5945834"/>
            <a:ext cx="2277039" cy="808338"/>
          </a:xfrm>
          <a:prstGeom prst="rect">
            <a:avLst/>
          </a:prstGeom>
          <a:noFill/>
          <a:ln>
            <a:noFill/>
          </a:ln>
        </p:spPr>
      </p:pic>
      <p:sp>
        <p:nvSpPr>
          <p:cNvPr id="2" name="TextBox 1">
            <a:extLst>
              <a:ext uri="{FF2B5EF4-FFF2-40B4-BE49-F238E27FC236}">
                <a16:creationId xmlns:a16="http://schemas.microsoft.com/office/drawing/2014/main" id="{7082AE12-D95D-0958-15A6-658C06CBDD47}"/>
              </a:ext>
            </a:extLst>
          </p:cNvPr>
          <p:cNvSpPr txBox="1"/>
          <p:nvPr/>
        </p:nvSpPr>
        <p:spPr>
          <a:xfrm>
            <a:off x="5637229" y="2974156"/>
            <a:ext cx="914400" cy="914400"/>
          </a:xfrm>
          <a:prstGeom prst="rect">
            <a:avLst/>
          </a:prstGeom>
          <a:noFill/>
        </p:spPr>
        <p:txBody>
          <a:bodyPr wrap="square" rtlCol="0">
            <a:spAutoFit/>
          </a:bodyPr>
          <a:lstStyle/>
          <a:p>
            <a:endParaRPr lang="en-IN" dirty="0"/>
          </a:p>
        </p:txBody>
      </p:sp>
      <p:sp>
        <p:nvSpPr>
          <p:cNvPr id="4" name="Rectangle 1">
            <a:extLst>
              <a:ext uri="{FF2B5EF4-FFF2-40B4-BE49-F238E27FC236}">
                <a16:creationId xmlns:a16="http://schemas.microsoft.com/office/drawing/2014/main" id="{631B5042-F201-8055-7306-7507CBF4C45E}"/>
              </a:ext>
            </a:extLst>
          </p:cNvPr>
          <p:cNvSpPr>
            <a:spLocks noChangeArrowheads="1"/>
          </p:cNvSpPr>
          <p:nvPr/>
        </p:nvSpPr>
        <p:spPr bwMode="auto">
          <a:xfrm>
            <a:off x="574934" y="1256237"/>
            <a:ext cx="11042132"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mn-lt"/>
              </a:rPr>
              <a:t>IVF patients show highly variable physiological responses to ovarian stimulation and hormonal treatment protocols. Currently, these responses are assessed only during discrete clinical visits using fragmented  reports. Delayed identification of abnormal response patterns increases the risk of complications such as poor ovarian response or ovarian hyperstimulation syndrome (OHSS). The absence of longitudinal trend analytics and real-time monitoring limits timely clinical decision-making, leading to increased adverse events, extended treatment duration, reduced patient safety, and higher overall treatment costs.</a:t>
            </a:r>
          </a:p>
        </p:txBody>
      </p:sp>
      <p:pic>
        <p:nvPicPr>
          <p:cNvPr id="1027" name="Picture 3" descr="IVF Treatment Options: Which One is ...">
            <a:extLst>
              <a:ext uri="{FF2B5EF4-FFF2-40B4-BE49-F238E27FC236}">
                <a16:creationId xmlns:a16="http://schemas.microsoft.com/office/drawing/2014/main" id="{3D357082-E08D-EDBF-D7F1-6C542AE4CB0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9856" y="4432292"/>
            <a:ext cx="3910060" cy="1724025"/>
          </a:xfrm>
          <a:prstGeom prst="rect">
            <a:avLst/>
          </a:prstGeom>
          <a:ln>
            <a:noFill/>
          </a:ln>
          <a:effectLst>
            <a:softEdge rad="88900"/>
          </a:effectLst>
          <a:extLst>
            <a:ext uri="{909E8E84-426E-40DD-AFC4-6F175D3DCCD1}">
              <a14:hiddenFill xmlns:a14="http://schemas.microsoft.com/office/drawing/2010/main">
                <a:solidFill>
                  <a:srgbClr val="FFFFFF"/>
                </a:solidFill>
              </a14:hiddenFill>
            </a:ext>
          </a:extLst>
        </p:spPr>
      </p:pic>
      <p:pic>
        <p:nvPicPr>
          <p:cNvPr id="1029" name="Picture 5" descr="What is the IVF success rate with PCOS ...">
            <a:extLst>
              <a:ext uri="{FF2B5EF4-FFF2-40B4-BE49-F238E27FC236}">
                <a16:creationId xmlns:a16="http://schemas.microsoft.com/office/drawing/2014/main" id="{B3E37C11-7271-69DC-60E1-AA1BF626640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10349" y="4363794"/>
            <a:ext cx="3244936" cy="1946962"/>
          </a:xfrm>
          <a:prstGeom prst="rect">
            <a:avLst/>
          </a:prstGeom>
          <a:ln>
            <a:noFill/>
          </a:ln>
          <a:effectLst>
            <a:glow>
              <a:schemeClr val="accent1">
                <a:alpha val="15000"/>
              </a:schemeClr>
            </a:glow>
            <a:softEdge rad="889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Shape 94"/>
        <p:cNvGrpSpPr/>
        <p:nvPr/>
      </p:nvGrpSpPr>
      <p:grpSpPr>
        <a:xfrm>
          <a:off x="0" y="0"/>
          <a:ext cx="0" cy="0"/>
          <a:chOff x="0" y="0"/>
          <a:chExt cx="0" cy="0"/>
        </a:xfrm>
      </p:grpSpPr>
      <p:sp>
        <p:nvSpPr>
          <p:cNvPr id="95" name="Google Shape;95;gf3a8d4be09_2_92"/>
          <p:cNvSpPr txBox="1">
            <a:spLocks noGrp="1"/>
          </p:cNvSpPr>
          <p:nvPr>
            <p:ph type="title"/>
          </p:nvPr>
        </p:nvSpPr>
        <p:spPr>
          <a:xfrm>
            <a:off x="228600" y="191607"/>
            <a:ext cx="10515600" cy="535500"/>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3000"/>
              <a:buFont typeface="Georgia"/>
              <a:buNone/>
            </a:pPr>
            <a:r>
              <a:rPr lang="en-US" sz="3200" b="1" dirty="0">
                <a:latin typeface="Times New Roman"/>
                <a:ea typeface="Times New Roman"/>
                <a:cs typeface="Times New Roman"/>
                <a:sym typeface="Times New Roman"/>
              </a:rPr>
              <a:t>Project Overview and Scope</a:t>
            </a:r>
            <a:endParaRPr sz="3200" b="1" dirty="0">
              <a:latin typeface="Times New Roman"/>
              <a:ea typeface="Times New Roman"/>
              <a:cs typeface="Times New Roman"/>
              <a:sym typeface="Times New Roman"/>
            </a:endParaRPr>
          </a:p>
        </p:txBody>
      </p:sp>
      <p:sp>
        <p:nvSpPr>
          <p:cNvPr id="96" name="Google Shape;96;gf3a8d4be09_2_92"/>
          <p:cNvSpPr txBox="1">
            <a:spLocks noGrp="1"/>
          </p:cNvSpPr>
          <p:nvPr>
            <p:ph type="sldNum" idx="12"/>
          </p:nvPr>
        </p:nvSpPr>
        <p:spPr>
          <a:xfrm>
            <a:off x="11639549" y="6350003"/>
            <a:ext cx="390600" cy="288900"/>
          </a:xfrm>
          <a:prstGeom prst="rect">
            <a:avLst/>
          </a:prstGeom>
          <a:noFill/>
          <a:ln>
            <a:noFill/>
          </a:ln>
        </p:spPr>
        <p:txBody>
          <a:bodyPr spcFirstLastPara="1" wrap="square" lIns="91400" tIns="45675" rIns="91400" bIns="45675"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dirty="0"/>
          </a:p>
        </p:txBody>
      </p:sp>
      <p:sp>
        <p:nvSpPr>
          <p:cNvPr id="97" name="Google Shape;97;gf3a8d4be09_2_92"/>
          <p:cNvSpPr txBox="1"/>
          <p:nvPr/>
        </p:nvSpPr>
        <p:spPr>
          <a:xfrm>
            <a:off x="4099475" y="1187700"/>
            <a:ext cx="21648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2400" b="1" i="0" u="none" strike="noStrike" cap="none" dirty="0">
              <a:solidFill>
                <a:srgbClr val="000000"/>
              </a:solidFill>
              <a:latin typeface="Calibri"/>
              <a:ea typeface="Calibri"/>
              <a:cs typeface="Calibri"/>
              <a:sym typeface="Calibri"/>
            </a:endParaRPr>
          </a:p>
        </p:txBody>
      </p:sp>
      <p:sp>
        <p:nvSpPr>
          <p:cNvPr id="98" name="Google Shape;98;gf3a8d4be09_2_92"/>
          <p:cNvSpPr txBox="1"/>
          <p:nvPr/>
        </p:nvSpPr>
        <p:spPr>
          <a:xfrm>
            <a:off x="6053425" y="2493975"/>
            <a:ext cx="34098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2400" b="1" i="0" u="none" strike="noStrike" cap="none" dirty="0">
              <a:solidFill>
                <a:srgbClr val="000000"/>
              </a:solidFill>
              <a:latin typeface="Calibri"/>
              <a:ea typeface="Calibri"/>
              <a:cs typeface="Calibri"/>
              <a:sym typeface="Calibri"/>
            </a:endParaRPr>
          </a:p>
        </p:txBody>
      </p:sp>
      <p:sp>
        <p:nvSpPr>
          <p:cNvPr id="99" name="Google Shape;99;gf3a8d4be09_2_92"/>
          <p:cNvSpPr txBox="1"/>
          <p:nvPr/>
        </p:nvSpPr>
        <p:spPr>
          <a:xfrm>
            <a:off x="5938500" y="3792975"/>
            <a:ext cx="3275700" cy="646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pPr>
            <a:endParaRPr sz="3000" b="1" i="0" u="none" strike="noStrike" cap="none" dirty="0">
              <a:solidFill>
                <a:srgbClr val="000000"/>
              </a:solidFill>
              <a:latin typeface="Calibri"/>
              <a:ea typeface="Calibri"/>
              <a:cs typeface="Calibri"/>
              <a:sym typeface="Calibri"/>
            </a:endParaRPr>
          </a:p>
        </p:txBody>
      </p:sp>
      <p:pic>
        <p:nvPicPr>
          <p:cNvPr id="101" name="Google Shape;101;gf3a8d4be09_2_92" descr="360DigiTMG Reviews - 52 Reviews of 360digitmg.com | Sitejabber"/>
          <p:cNvPicPr preferRelativeResize="0"/>
          <p:nvPr/>
        </p:nvPicPr>
        <p:blipFill rotWithShape="1">
          <a:blip r:embed="rId3">
            <a:alphaModFix/>
          </a:blip>
          <a:srcRect/>
          <a:stretch/>
        </p:blipFill>
        <p:spPr>
          <a:xfrm>
            <a:off x="9751545" y="5952931"/>
            <a:ext cx="2277039" cy="808338"/>
          </a:xfrm>
          <a:prstGeom prst="rect">
            <a:avLst/>
          </a:prstGeom>
          <a:noFill/>
          <a:ln>
            <a:noFill/>
          </a:ln>
        </p:spPr>
      </p:pic>
      <p:sp>
        <p:nvSpPr>
          <p:cNvPr id="2" name="TextBox 1">
            <a:extLst>
              <a:ext uri="{FF2B5EF4-FFF2-40B4-BE49-F238E27FC236}">
                <a16:creationId xmlns:a16="http://schemas.microsoft.com/office/drawing/2014/main" id="{57944C76-E8AB-CE61-5D54-3C5D57D0FDAA}"/>
              </a:ext>
            </a:extLst>
          </p:cNvPr>
          <p:cNvSpPr txBox="1"/>
          <p:nvPr/>
        </p:nvSpPr>
        <p:spPr>
          <a:xfrm>
            <a:off x="364283" y="927568"/>
            <a:ext cx="11799984" cy="1384995"/>
          </a:xfrm>
          <a:prstGeom prst="rect">
            <a:avLst/>
          </a:prstGeom>
          <a:noFill/>
        </p:spPr>
        <p:txBody>
          <a:bodyPr wrap="square" rtlCol="0">
            <a:spAutoFit/>
          </a:bodyPr>
          <a:lstStyle/>
          <a:p>
            <a:r>
              <a:rPr lang="en-US" dirty="0"/>
              <a:t>The </a:t>
            </a:r>
            <a:r>
              <a:rPr lang="en-US" b="1" dirty="0"/>
              <a:t>Data-Driven Early Outcome Risk Intelligence</a:t>
            </a:r>
            <a:r>
              <a:rPr lang="en-US" dirty="0"/>
              <a:t> project aims to transition the clinic from reactive clinical assessments to proactive, </a:t>
            </a:r>
          </a:p>
          <a:p>
            <a:r>
              <a:rPr lang="en-US" dirty="0"/>
              <a:t>trend-based monitoring. By integrating fragmented data—hormonal biomarkers (AMH, E2, P4), follicular development (ultrasound metrics), and </a:t>
            </a:r>
          </a:p>
          <a:p>
            <a:r>
              <a:rPr lang="en-US" dirty="0"/>
              <a:t>patient demographics—the solution will provide a centralized "command center" for clinicians.</a:t>
            </a:r>
          </a:p>
          <a:p>
            <a:r>
              <a:rPr lang="en-US" dirty="0"/>
              <a:t>The core of the project is a </a:t>
            </a:r>
            <a:r>
              <a:rPr lang="en-US" b="1" dirty="0"/>
              <a:t>Near Real-Time Risk Dashboard</a:t>
            </a:r>
            <a:r>
              <a:rPr lang="en-US" dirty="0"/>
              <a:t> that uses longitudinal data analytics to flag patients trending toward complications </a:t>
            </a:r>
          </a:p>
          <a:p>
            <a:r>
              <a:rPr lang="en-US" dirty="0"/>
              <a:t>(like OHSS) or poor response before they reach a critical clinical state.</a:t>
            </a:r>
          </a:p>
          <a:p>
            <a:endParaRPr lang="en-IN" dirty="0"/>
          </a:p>
        </p:txBody>
      </p:sp>
      <p:sp>
        <p:nvSpPr>
          <p:cNvPr id="4" name="TextBox 3">
            <a:extLst>
              <a:ext uri="{FF2B5EF4-FFF2-40B4-BE49-F238E27FC236}">
                <a16:creationId xmlns:a16="http://schemas.microsoft.com/office/drawing/2014/main" id="{4B09B93A-B318-8AFD-A71F-ACA028B29E8A}"/>
              </a:ext>
            </a:extLst>
          </p:cNvPr>
          <p:cNvSpPr txBox="1"/>
          <p:nvPr/>
        </p:nvSpPr>
        <p:spPr>
          <a:xfrm>
            <a:off x="364283" y="2144621"/>
            <a:ext cx="11918544" cy="4616648"/>
          </a:xfrm>
          <a:prstGeom prst="rect">
            <a:avLst/>
          </a:prstGeom>
          <a:noFill/>
        </p:spPr>
        <p:txBody>
          <a:bodyPr wrap="square">
            <a:spAutoFit/>
          </a:bodyPr>
          <a:lstStyle/>
          <a:p>
            <a:pPr>
              <a:buNone/>
            </a:pPr>
            <a:r>
              <a:rPr lang="en-US" dirty="0"/>
              <a:t>The scope defines the boundaries of the technical implementation. It is divided into three critical layers:</a:t>
            </a:r>
          </a:p>
          <a:p>
            <a:pPr>
              <a:buNone/>
            </a:pPr>
            <a:r>
              <a:rPr lang="en-US" b="1" dirty="0"/>
              <a:t>A. Data Integration &amp; Engineering (The Foundation)</a:t>
            </a:r>
          </a:p>
          <a:p>
            <a:pPr>
              <a:buFont typeface="Arial" panose="020B0604020202020204" pitchFamily="34" charset="0"/>
              <a:buChar char="•"/>
            </a:pPr>
            <a:r>
              <a:rPr lang="en-US" b="1" dirty="0"/>
              <a:t>In-Scope:</a:t>
            </a:r>
            <a:r>
              <a:rPr lang="en-US" dirty="0"/>
              <a:t> * Consolidating data from Electronic Medical Records (EMR), Laboratory Information Systems (LIS), and manual ultrasound logs.</a:t>
            </a:r>
          </a:p>
          <a:p>
            <a:pPr marL="742950" lvl="1" indent="-285750">
              <a:buFont typeface="Arial" panose="020B0604020202020204" pitchFamily="34" charset="0"/>
              <a:buChar char="•"/>
            </a:pPr>
            <a:r>
              <a:rPr lang="en-US" dirty="0"/>
              <a:t>Standardizing hormonal units (e.g., converting all AMH/E2 readings to a uniform scale).</a:t>
            </a:r>
          </a:p>
          <a:p>
            <a:pPr marL="742950" lvl="1" indent="-285750">
              <a:buFont typeface="Arial" panose="020B0604020202020204" pitchFamily="34" charset="0"/>
              <a:buChar char="•"/>
            </a:pPr>
            <a:r>
              <a:rPr lang="en-US" dirty="0"/>
              <a:t>Building data pipelines that sync near real-time updates from stimulation cycles.</a:t>
            </a:r>
          </a:p>
          <a:p>
            <a:pPr>
              <a:buFont typeface="Arial" panose="020B0604020202020204" pitchFamily="34" charset="0"/>
              <a:buChar char="•"/>
            </a:pPr>
            <a:r>
              <a:rPr lang="en-US" b="1" dirty="0"/>
              <a:t>Out-of-Scope:</a:t>
            </a:r>
            <a:r>
              <a:rPr lang="en-US" dirty="0"/>
              <a:t> Deep historical data migration (older than 5 years) unless required for baseline modeling.</a:t>
            </a:r>
          </a:p>
          <a:p>
            <a:pPr>
              <a:buNone/>
            </a:pPr>
            <a:r>
              <a:rPr lang="en-US" b="1" dirty="0"/>
              <a:t>B. Analytics &amp; Risk Intelligence (The "Brain")</a:t>
            </a:r>
          </a:p>
          <a:p>
            <a:pPr>
              <a:buFont typeface="Arial" panose="020B0604020202020204" pitchFamily="34" charset="0"/>
              <a:buChar char="•"/>
            </a:pPr>
            <a:r>
              <a:rPr lang="en-US" b="1" dirty="0"/>
              <a:t>In-Scope:</a:t>
            </a:r>
            <a:endParaRPr lang="en-US" dirty="0"/>
          </a:p>
          <a:p>
            <a:pPr marL="742950" lvl="1" indent="-285750">
              <a:buFont typeface="Arial" panose="020B0604020202020204" pitchFamily="34" charset="0"/>
              <a:buChar char="•"/>
            </a:pPr>
            <a:r>
              <a:rPr lang="en-US" b="1" dirty="0"/>
              <a:t>Trend Analytics:</a:t>
            </a:r>
            <a:r>
              <a:rPr lang="en-US" dirty="0"/>
              <a:t> Monitoring the "velocity" of hormonal changes (e.g., how fast Estrogen is rising).</a:t>
            </a:r>
          </a:p>
          <a:p>
            <a:pPr marL="742950" lvl="1" indent="-285750">
              <a:buFont typeface="Arial" panose="020B0604020202020204" pitchFamily="34" charset="0"/>
              <a:buChar char="•"/>
            </a:pPr>
            <a:r>
              <a:rPr lang="en-US" b="1" dirty="0"/>
              <a:t>Risk Scoring:</a:t>
            </a:r>
            <a:r>
              <a:rPr lang="en-US" dirty="0"/>
              <a:t> Developing a weighted scoring system to categorize patients as "Low," "Medium," or "High" risk for OHSS or Poor Response.</a:t>
            </a:r>
          </a:p>
          <a:p>
            <a:pPr marL="742950" lvl="1" indent="-285750">
              <a:buFont typeface="Arial" panose="020B0604020202020204" pitchFamily="34" charset="0"/>
              <a:buChar char="•"/>
            </a:pPr>
            <a:r>
              <a:rPr lang="en-US" b="1" dirty="0"/>
              <a:t>Comparative Analysis:</a:t>
            </a:r>
            <a:r>
              <a:rPr lang="en-US" dirty="0"/>
              <a:t> Benchmarking a current patient’s response against historical "Success" profiles within the same demographic/diagnosis.</a:t>
            </a:r>
          </a:p>
          <a:p>
            <a:pPr>
              <a:buFont typeface="Arial" panose="020B0604020202020204" pitchFamily="34" charset="0"/>
              <a:buChar char="•"/>
            </a:pPr>
            <a:r>
              <a:rPr lang="en-US" b="1" dirty="0"/>
              <a:t>Out-of-Scope:</a:t>
            </a:r>
            <a:r>
              <a:rPr lang="en-US" dirty="0"/>
              <a:t> Automating medication changes (this remains a manual clinician decision for regulatory compliance).</a:t>
            </a:r>
          </a:p>
          <a:p>
            <a:pPr>
              <a:buNone/>
            </a:pPr>
            <a:r>
              <a:rPr lang="en-US" b="1" dirty="0"/>
              <a:t>C. Visualization &amp; Clinical Workflow (The Delivery)</a:t>
            </a:r>
          </a:p>
          <a:p>
            <a:pPr>
              <a:buFont typeface="Arial" panose="020B0604020202020204" pitchFamily="34" charset="0"/>
              <a:buChar char="•"/>
            </a:pPr>
            <a:r>
              <a:rPr lang="en-US" b="1" dirty="0"/>
              <a:t>In-Scope:</a:t>
            </a:r>
            <a:endParaRPr lang="en-US" dirty="0"/>
          </a:p>
          <a:p>
            <a:pPr marL="742950" lvl="1" indent="-285750">
              <a:buFont typeface="Arial" panose="020B0604020202020204" pitchFamily="34" charset="0"/>
              <a:buChar char="•"/>
            </a:pPr>
            <a:r>
              <a:rPr lang="en-US" b="1" dirty="0"/>
              <a:t>Clinician Dashboard:</a:t>
            </a:r>
            <a:r>
              <a:rPr lang="en-US" dirty="0"/>
              <a:t> A high-level view showing all active stimulation cycles sorted by risk level.</a:t>
            </a:r>
          </a:p>
          <a:p>
            <a:pPr marL="742950" lvl="1" indent="-285750">
              <a:buFont typeface="Arial" panose="020B0604020202020204" pitchFamily="34" charset="0"/>
              <a:buChar char="•"/>
            </a:pPr>
            <a:r>
              <a:rPr lang="en-US" b="1" dirty="0"/>
              <a:t>Patient Longitudinal View:</a:t>
            </a:r>
            <a:r>
              <a:rPr lang="en-US" dirty="0"/>
              <a:t> A drill-down report showing a single patient's hormonal and follicular </a:t>
            </a:r>
          </a:p>
          <a:p>
            <a:pPr marL="457200" lvl="1"/>
            <a:r>
              <a:rPr lang="en-US" dirty="0"/>
              <a:t>      trends over time.</a:t>
            </a:r>
          </a:p>
          <a:p>
            <a:pPr marL="742950" lvl="1" indent="-285750">
              <a:buFont typeface="Arial" panose="020B0604020202020204" pitchFamily="34" charset="0"/>
              <a:buChar char="•"/>
            </a:pPr>
            <a:r>
              <a:rPr lang="en-US" b="1" dirty="0"/>
              <a:t>Automated Alerts:</a:t>
            </a:r>
            <a:r>
              <a:rPr lang="en-US" dirty="0"/>
              <a:t> Triggering visual flags when a patient crosses a pre-defined physiological threshold.</a:t>
            </a:r>
          </a:p>
          <a:p>
            <a:pPr>
              <a:buFont typeface="Arial" panose="020B0604020202020204" pitchFamily="34" charset="0"/>
              <a:buChar char="•"/>
            </a:pPr>
            <a:r>
              <a:rPr lang="en-US" b="1" dirty="0"/>
              <a:t>Out-of-Scope:</a:t>
            </a:r>
            <a:r>
              <a:rPr lang="en-US" dirty="0"/>
              <a:t> Patient-facing mobile apps or portals (the focus is strictly on clinician decision support).</a:t>
            </a:r>
          </a:p>
        </p:txBody>
      </p:sp>
      <p:pic>
        <p:nvPicPr>
          <p:cNvPr id="2050" name="Picture 2" descr="IUI or IVF? Which Fertility Treatment ...">
            <a:extLst>
              <a:ext uri="{FF2B5EF4-FFF2-40B4-BE49-F238E27FC236}">
                <a16:creationId xmlns:a16="http://schemas.microsoft.com/office/drawing/2014/main" id="{51690D5D-8C76-0425-137D-16034DF6D9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06403" y="2691075"/>
            <a:ext cx="2724150" cy="1676400"/>
          </a:xfrm>
          <a:prstGeom prst="rect">
            <a:avLst/>
          </a:prstGeom>
          <a:ln>
            <a:noFill/>
          </a:ln>
          <a:effectLst>
            <a:softEdge rad="3175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Shape 105"/>
        <p:cNvGrpSpPr/>
        <p:nvPr/>
      </p:nvGrpSpPr>
      <p:grpSpPr>
        <a:xfrm>
          <a:off x="0" y="0"/>
          <a:ext cx="0" cy="0"/>
          <a:chOff x="0" y="0"/>
          <a:chExt cx="0" cy="0"/>
        </a:xfrm>
      </p:grpSpPr>
      <p:sp>
        <p:nvSpPr>
          <p:cNvPr id="106" name="Google Shape;106;p15"/>
          <p:cNvSpPr txBox="1">
            <a:spLocks noGrp="1"/>
          </p:cNvSpPr>
          <p:nvPr>
            <p:ph type="title"/>
          </p:nvPr>
        </p:nvSpPr>
        <p:spPr>
          <a:xfrm>
            <a:off x="0" y="177790"/>
            <a:ext cx="10515600" cy="535500"/>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2300"/>
              <a:buFont typeface="Georgia"/>
              <a:buNone/>
            </a:pPr>
            <a:r>
              <a:rPr lang="en-US" sz="3200" b="1" dirty="0">
                <a:latin typeface="Times New Roman"/>
                <a:ea typeface="Times New Roman"/>
                <a:cs typeface="Times New Roman"/>
                <a:sym typeface="Times New Roman"/>
              </a:rPr>
              <a:t>Data Dictionary </a:t>
            </a:r>
            <a:endParaRPr sz="3200" b="1" dirty="0">
              <a:latin typeface="Times New Roman"/>
              <a:ea typeface="Times New Roman"/>
              <a:cs typeface="Times New Roman"/>
              <a:sym typeface="Times New Roman"/>
            </a:endParaRPr>
          </a:p>
        </p:txBody>
      </p:sp>
      <p:pic>
        <p:nvPicPr>
          <p:cNvPr id="107" name="Google Shape;107;p15" descr="360DigiTMG Reviews - 52 Reviews of 360digitmg.com | Sitejabber"/>
          <p:cNvPicPr preferRelativeResize="0"/>
          <p:nvPr/>
        </p:nvPicPr>
        <p:blipFill rotWithShape="1">
          <a:blip r:embed="rId3">
            <a:alphaModFix/>
          </a:blip>
          <a:srcRect/>
          <a:stretch/>
        </p:blipFill>
        <p:spPr>
          <a:xfrm>
            <a:off x="9692919" y="5896947"/>
            <a:ext cx="2277039" cy="808338"/>
          </a:xfrm>
          <a:prstGeom prst="rect">
            <a:avLst/>
          </a:prstGeom>
          <a:noFill/>
          <a:ln>
            <a:noFill/>
          </a:ln>
        </p:spPr>
      </p:pic>
      <p:graphicFrame>
        <p:nvGraphicFramePr>
          <p:cNvPr id="6" name="Table 5">
            <a:extLst>
              <a:ext uri="{FF2B5EF4-FFF2-40B4-BE49-F238E27FC236}">
                <a16:creationId xmlns:a16="http://schemas.microsoft.com/office/drawing/2014/main" id="{22267073-A77E-4550-1FAE-A633726F90E8}"/>
              </a:ext>
            </a:extLst>
          </p:cNvPr>
          <p:cNvGraphicFramePr>
            <a:graphicFrameLocks noGrp="1"/>
          </p:cNvGraphicFramePr>
          <p:nvPr>
            <p:extLst>
              <p:ext uri="{D42A27DB-BD31-4B8C-83A1-F6EECF244321}">
                <p14:modId xmlns:p14="http://schemas.microsoft.com/office/powerpoint/2010/main" val="3483692074"/>
              </p:ext>
            </p:extLst>
          </p:nvPr>
        </p:nvGraphicFramePr>
        <p:xfrm>
          <a:off x="550606" y="1052052"/>
          <a:ext cx="11002297" cy="4719485"/>
        </p:xfrm>
        <a:graphic>
          <a:graphicData uri="http://schemas.openxmlformats.org/drawingml/2006/table">
            <a:tbl>
              <a:tblPr firstRow="1" firstCol="1">
                <a:tableStyleId>{D7AC3CCA-C797-4891-BE02-D94E43425B78}</a:tableStyleId>
              </a:tblPr>
              <a:tblGrid>
                <a:gridCol w="1971997">
                  <a:extLst>
                    <a:ext uri="{9D8B030D-6E8A-4147-A177-3AD203B41FA5}">
                      <a16:colId xmlns:a16="http://schemas.microsoft.com/office/drawing/2014/main" val="818787772"/>
                    </a:ext>
                  </a:extLst>
                </a:gridCol>
                <a:gridCol w="1923899">
                  <a:extLst>
                    <a:ext uri="{9D8B030D-6E8A-4147-A177-3AD203B41FA5}">
                      <a16:colId xmlns:a16="http://schemas.microsoft.com/office/drawing/2014/main" val="4004724938"/>
                    </a:ext>
                  </a:extLst>
                </a:gridCol>
                <a:gridCol w="3414921">
                  <a:extLst>
                    <a:ext uri="{9D8B030D-6E8A-4147-A177-3AD203B41FA5}">
                      <a16:colId xmlns:a16="http://schemas.microsoft.com/office/drawing/2014/main" val="4223007395"/>
                    </a:ext>
                  </a:extLst>
                </a:gridCol>
                <a:gridCol w="3691480">
                  <a:extLst>
                    <a:ext uri="{9D8B030D-6E8A-4147-A177-3AD203B41FA5}">
                      <a16:colId xmlns:a16="http://schemas.microsoft.com/office/drawing/2014/main" val="532268393"/>
                    </a:ext>
                  </a:extLst>
                </a:gridCol>
              </a:tblGrid>
              <a:tr h="378035">
                <a:tc>
                  <a:txBody>
                    <a:bodyPr/>
                    <a:lstStyle/>
                    <a:p>
                      <a:pPr algn="l" rtl="0" fontAlgn="b">
                        <a:buNone/>
                      </a:pPr>
                      <a:r>
                        <a:rPr lang="en-IN" sz="1400" b="1" dirty="0">
                          <a:solidFill>
                            <a:schemeClr val="tx1">
                              <a:lumMod val="95000"/>
                              <a:lumOff val="5000"/>
                            </a:schemeClr>
                          </a:solidFill>
                          <a:effectLst/>
                        </a:rPr>
                        <a:t>Field Name</a:t>
                      </a:r>
                    </a:p>
                  </a:txBody>
                  <a:tcPr marL="14970" marR="14970" marT="9980" marB="9980" anchor="b">
                    <a:solidFill>
                      <a:schemeClr val="accent2"/>
                    </a:solidFill>
                  </a:tcPr>
                </a:tc>
                <a:tc>
                  <a:txBody>
                    <a:bodyPr/>
                    <a:lstStyle/>
                    <a:p>
                      <a:pPr algn="l" rtl="0" fontAlgn="b">
                        <a:buNone/>
                      </a:pPr>
                      <a:r>
                        <a:rPr lang="en-IN" sz="1400" b="1" dirty="0">
                          <a:solidFill>
                            <a:schemeClr val="tx1">
                              <a:lumMod val="95000"/>
                              <a:lumOff val="5000"/>
                            </a:schemeClr>
                          </a:solidFill>
                          <a:effectLst/>
                        </a:rPr>
                        <a:t>Data Type</a:t>
                      </a:r>
                    </a:p>
                  </a:txBody>
                  <a:tcPr marL="14970" marR="14970" marT="9980" marB="9980" anchor="b">
                    <a:solidFill>
                      <a:schemeClr val="accent2"/>
                    </a:solidFill>
                  </a:tcPr>
                </a:tc>
                <a:tc>
                  <a:txBody>
                    <a:bodyPr/>
                    <a:lstStyle/>
                    <a:p>
                      <a:pPr algn="l" rtl="0" fontAlgn="b">
                        <a:buNone/>
                      </a:pPr>
                      <a:r>
                        <a:rPr lang="en-IN" sz="1400" b="1" dirty="0">
                          <a:solidFill>
                            <a:schemeClr val="tx1">
                              <a:lumMod val="95000"/>
                              <a:lumOff val="5000"/>
                            </a:schemeClr>
                          </a:solidFill>
                          <a:effectLst/>
                        </a:rPr>
                        <a:t>Description</a:t>
                      </a:r>
                    </a:p>
                  </a:txBody>
                  <a:tcPr marL="14970" marR="14970" marT="9980" marB="9980" anchor="b">
                    <a:solidFill>
                      <a:schemeClr val="accent2"/>
                    </a:solidFill>
                  </a:tcPr>
                </a:tc>
                <a:tc>
                  <a:txBody>
                    <a:bodyPr/>
                    <a:lstStyle/>
                    <a:p>
                      <a:pPr algn="l" rtl="0" fontAlgn="b">
                        <a:buNone/>
                      </a:pPr>
                      <a:r>
                        <a:rPr lang="en-IN" sz="1400" b="1" dirty="0">
                          <a:solidFill>
                            <a:schemeClr val="tx1">
                              <a:lumMod val="95000"/>
                              <a:lumOff val="5000"/>
                            </a:schemeClr>
                          </a:solidFill>
                          <a:effectLst/>
                        </a:rPr>
                        <a:t>Clinical Significance</a:t>
                      </a:r>
                    </a:p>
                  </a:txBody>
                  <a:tcPr marL="14970" marR="14970" marT="9980" marB="9980" anchor="b">
                    <a:solidFill>
                      <a:schemeClr val="accent2"/>
                    </a:solidFill>
                  </a:tcPr>
                </a:tc>
                <a:extLst>
                  <a:ext uri="{0D108BD9-81ED-4DB2-BD59-A6C34878D82A}">
                    <a16:rowId xmlns:a16="http://schemas.microsoft.com/office/drawing/2014/main" val="1261282081"/>
                  </a:ext>
                </a:extLst>
              </a:tr>
              <a:tr h="284038">
                <a:tc>
                  <a:txBody>
                    <a:bodyPr/>
                    <a:lstStyle/>
                    <a:p>
                      <a:pPr algn="l" rtl="0" fontAlgn="b">
                        <a:buNone/>
                      </a:pPr>
                      <a:r>
                        <a:rPr lang="en-IN" sz="900" dirty="0">
                          <a:effectLst/>
                        </a:rPr>
                        <a:t>Patient_ID</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algn="l" rtl="0" fontAlgn="b">
                        <a:buNone/>
                      </a:pPr>
                      <a:r>
                        <a:rPr lang="en-IN" sz="900" dirty="0">
                          <a:effectLst/>
                        </a:rPr>
                        <a:t>String</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algn="l" rtl="0" fontAlgn="b">
                        <a:buNone/>
                      </a:pPr>
                      <a:r>
                        <a:rPr lang="en-IN" sz="900" dirty="0">
                          <a:effectLst/>
                        </a:rPr>
                        <a:t>Unique clinical identifier.</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algn="l" rtl="0" fontAlgn="b">
                        <a:buNone/>
                      </a:pPr>
                      <a:r>
                        <a:rPr lang="en-US" sz="900" dirty="0">
                          <a:effectLst/>
                        </a:rPr>
                        <a:t>Primary Key for data joining.</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extLst>
                  <a:ext uri="{0D108BD9-81ED-4DB2-BD59-A6C34878D82A}">
                    <a16:rowId xmlns:a16="http://schemas.microsoft.com/office/drawing/2014/main" val="3305524007"/>
                  </a:ext>
                </a:extLst>
              </a:tr>
              <a:tr h="301293">
                <a:tc>
                  <a:txBody>
                    <a:bodyPr/>
                    <a:lstStyle/>
                    <a:p>
                      <a:pPr algn="l" rtl="0" fontAlgn="b">
                        <a:buNone/>
                      </a:pPr>
                      <a:r>
                        <a:rPr lang="en-IN" sz="900" dirty="0">
                          <a:effectLst/>
                        </a:rPr>
                        <a:t>Age</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algn="l" rtl="0" fontAlgn="b">
                        <a:buNone/>
                      </a:pPr>
                      <a:r>
                        <a:rPr lang="en-IN" sz="900" dirty="0">
                          <a:effectLst/>
                        </a:rPr>
                        <a:t>Integer</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algn="l" rtl="0" fontAlgn="b">
                        <a:buNone/>
                      </a:pPr>
                      <a:r>
                        <a:rPr lang="en-US" sz="900" dirty="0">
                          <a:effectLst/>
                        </a:rPr>
                        <a:t>Patient's age at start of cycle.</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algn="l" rtl="0" fontAlgn="b">
                        <a:buNone/>
                      </a:pPr>
                      <a:r>
                        <a:rPr lang="en-US" sz="900" dirty="0">
                          <a:effectLst/>
                        </a:rPr>
                        <a:t>Primary predictor of oocyte quality.</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extLst>
                  <a:ext uri="{0D108BD9-81ED-4DB2-BD59-A6C34878D82A}">
                    <a16:rowId xmlns:a16="http://schemas.microsoft.com/office/drawing/2014/main" val="2415382542"/>
                  </a:ext>
                </a:extLst>
              </a:tr>
              <a:tr h="301293">
                <a:tc>
                  <a:txBody>
                    <a:bodyPr/>
                    <a:lstStyle/>
                    <a:p>
                      <a:pPr algn="l" rtl="0" fontAlgn="b">
                        <a:buNone/>
                      </a:pPr>
                      <a:r>
                        <a:rPr lang="en-IN" sz="900" dirty="0">
                          <a:effectLst/>
                        </a:rPr>
                        <a:t>BMI</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algn="l" rtl="0" fontAlgn="b">
                        <a:buNone/>
                      </a:pPr>
                      <a:r>
                        <a:rPr lang="en-IN" sz="900" dirty="0">
                          <a:effectLst/>
                        </a:rPr>
                        <a:t>Decimal</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algn="l" rtl="0" fontAlgn="b">
                        <a:buNone/>
                      </a:pPr>
                      <a:r>
                        <a:rPr lang="en-US" sz="900" dirty="0">
                          <a:effectLst/>
                        </a:rPr>
                        <a:t>Body Mass Index (kg/m2).</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algn="l" rtl="0" fontAlgn="b">
                        <a:buNone/>
                      </a:pPr>
                      <a:r>
                        <a:rPr lang="en-IN" sz="900" dirty="0">
                          <a:effectLst/>
                        </a:rPr>
                        <a:t>Influences gonadotropin (Gn) dosing.</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extLst>
                  <a:ext uri="{0D108BD9-81ED-4DB2-BD59-A6C34878D82A}">
                    <a16:rowId xmlns:a16="http://schemas.microsoft.com/office/drawing/2014/main" val="2706176584"/>
                  </a:ext>
                </a:extLst>
              </a:tr>
              <a:tr h="301293">
                <a:tc>
                  <a:txBody>
                    <a:bodyPr/>
                    <a:lstStyle/>
                    <a:p>
                      <a:pPr algn="l" rtl="0" fontAlgn="b">
                        <a:buNone/>
                      </a:pPr>
                      <a:r>
                        <a:rPr lang="en-IN" sz="900" dirty="0">
                          <a:effectLst/>
                        </a:rPr>
                        <a:t>AMH_Level</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algn="l" rtl="0" fontAlgn="b">
                        <a:buNone/>
                      </a:pPr>
                      <a:r>
                        <a:rPr lang="en-IN" sz="900" dirty="0">
                          <a:effectLst/>
                        </a:rPr>
                        <a:t>Decimal</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algn="l" rtl="0" fontAlgn="b">
                        <a:buNone/>
                      </a:pPr>
                      <a:r>
                        <a:rPr lang="en-IN" sz="900" dirty="0">
                          <a:effectLst/>
                        </a:rPr>
                        <a:t>Anti-Müllerian Hormone (ng/ml).</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algn="l" rtl="0" fontAlgn="b">
                        <a:buNone/>
                      </a:pPr>
                      <a:r>
                        <a:rPr lang="en-US" sz="900" dirty="0">
                          <a:effectLst/>
                        </a:rPr>
                        <a:t>Predicts ovarian reserve and OHSS risk.</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extLst>
                  <a:ext uri="{0D108BD9-81ED-4DB2-BD59-A6C34878D82A}">
                    <a16:rowId xmlns:a16="http://schemas.microsoft.com/office/drawing/2014/main" val="1402636778"/>
                  </a:ext>
                </a:extLst>
              </a:tr>
              <a:tr h="301293">
                <a:tc>
                  <a:txBody>
                    <a:bodyPr/>
                    <a:lstStyle/>
                    <a:p>
                      <a:pPr algn="l" rtl="0" fontAlgn="b">
                        <a:buNone/>
                      </a:pPr>
                      <a:r>
                        <a:rPr lang="en-IN" sz="900" dirty="0">
                          <a:effectLst/>
                        </a:rPr>
                        <a:t>AFC_Total</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algn="l" rtl="0" fontAlgn="b">
                        <a:buNone/>
                      </a:pPr>
                      <a:r>
                        <a:rPr lang="en-IN" sz="900" dirty="0">
                          <a:effectLst/>
                        </a:rPr>
                        <a:t>Integer</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algn="l" rtl="0" fontAlgn="b">
                        <a:buNone/>
                      </a:pPr>
                      <a:r>
                        <a:rPr lang="en-IN" sz="900" dirty="0">
                          <a:effectLst/>
                        </a:rPr>
                        <a:t>Antral Follicle Count.</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algn="l" rtl="0" fontAlgn="b">
                        <a:buNone/>
                      </a:pPr>
                      <a:r>
                        <a:rPr lang="en-US" sz="900" dirty="0">
                          <a:effectLst/>
                        </a:rPr>
                        <a:t>Baseline "starting potential" for the cycle.</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extLst>
                  <a:ext uri="{0D108BD9-81ED-4DB2-BD59-A6C34878D82A}">
                    <a16:rowId xmlns:a16="http://schemas.microsoft.com/office/drawing/2014/main" val="1651158437"/>
                  </a:ext>
                </a:extLst>
              </a:tr>
              <a:tr h="301293">
                <a:tc>
                  <a:txBody>
                    <a:bodyPr/>
                    <a:lstStyle/>
                    <a:p>
                      <a:pPr algn="l" rtl="0" fontAlgn="b">
                        <a:buNone/>
                      </a:pPr>
                      <a:r>
                        <a:rPr lang="en-IN" sz="900" dirty="0">
                          <a:effectLst/>
                        </a:rPr>
                        <a:t>Cycle_Day</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algn="l" rtl="0" fontAlgn="b">
                        <a:buNone/>
                      </a:pPr>
                      <a:r>
                        <a:rPr lang="en-IN" sz="900" dirty="0">
                          <a:effectLst/>
                        </a:rPr>
                        <a:t>Integer</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algn="l" rtl="0" fontAlgn="b">
                        <a:buNone/>
                      </a:pPr>
                      <a:r>
                        <a:rPr lang="en-US" sz="900" dirty="0">
                          <a:effectLst/>
                        </a:rPr>
                        <a:t>Days since start of stimulation.</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algn="l" rtl="0" fontAlgn="b">
                        <a:buNone/>
                      </a:pPr>
                      <a:r>
                        <a:rPr lang="en-US" sz="900" dirty="0">
                          <a:effectLst/>
                        </a:rPr>
                        <a:t>X-axis for all trend visualizations.</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extLst>
                  <a:ext uri="{0D108BD9-81ED-4DB2-BD59-A6C34878D82A}">
                    <a16:rowId xmlns:a16="http://schemas.microsoft.com/office/drawing/2014/main" val="363309615"/>
                  </a:ext>
                </a:extLst>
              </a:tr>
              <a:tr h="301293">
                <a:tc>
                  <a:txBody>
                    <a:bodyPr/>
                    <a:lstStyle/>
                    <a:p>
                      <a:pPr algn="l" rtl="0" fontAlgn="b">
                        <a:buNone/>
                      </a:pPr>
                      <a:r>
                        <a:rPr lang="en-IN" sz="900" dirty="0">
                          <a:effectLst/>
                        </a:rPr>
                        <a:t>Gn_Dose</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algn="l" rtl="0" fontAlgn="b">
                        <a:buNone/>
                      </a:pPr>
                      <a:r>
                        <a:rPr lang="en-IN" sz="900" dirty="0">
                          <a:effectLst/>
                        </a:rPr>
                        <a:t>Integer</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algn="l" rtl="0" fontAlgn="b">
                        <a:buNone/>
                      </a:pPr>
                      <a:r>
                        <a:rPr lang="en-IN" sz="900" dirty="0">
                          <a:effectLst/>
                        </a:rPr>
                        <a:t>Daily Gonadotropin dose (IU).</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algn="l" rtl="0" fontAlgn="b">
                        <a:buNone/>
                      </a:pPr>
                      <a:r>
                        <a:rPr lang="en-US" sz="900" dirty="0">
                          <a:effectLst/>
                        </a:rPr>
                        <a:t>The "input" variable for stimulation.</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extLst>
                  <a:ext uri="{0D108BD9-81ED-4DB2-BD59-A6C34878D82A}">
                    <a16:rowId xmlns:a16="http://schemas.microsoft.com/office/drawing/2014/main" val="1724032754"/>
                  </a:ext>
                </a:extLst>
              </a:tr>
              <a:tr h="301293">
                <a:tc>
                  <a:txBody>
                    <a:bodyPr/>
                    <a:lstStyle/>
                    <a:p>
                      <a:pPr algn="l" rtl="0" fontAlgn="b">
                        <a:buNone/>
                      </a:pPr>
                      <a:r>
                        <a:rPr lang="en-IN" sz="900" dirty="0">
                          <a:effectLst/>
                        </a:rPr>
                        <a:t>E2_Level</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algn="l" rtl="0" fontAlgn="b">
                        <a:buNone/>
                      </a:pPr>
                      <a:r>
                        <a:rPr lang="en-IN" sz="900" dirty="0">
                          <a:effectLst/>
                        </a:rPr>
                        <a:t>Decimal</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algn="l" rtl="0" fontAlgn="b">
                        <a:buNone/>
                      </a:pPr>
                      <a:r>
                        <a:rPr lang="en-IN" sz="900" dirty="0">
                          <a:effectLst/>
                        </a:rPr>
                        <a:t>Estradiol level (pg/ml).</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algn="l" rtl="0" fontAlgn="b">
                        <a:buNone/>
                      </a:pPr>
                      <a:r>
                        <a:rPr lang="en-US" sz="900" dirty="0">
                          <a:effectLst/>
                        </a:rPr>
                        <a:t>Speed of rise flags OHSS risk.</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extLst>
                  <a:ext uri="{0D108BD9-81ED-4DB2-BD59-A6C34878D82A}">
                    <a16:rowId xmlns:a16="http://schemas.microsoft.com/office/drawing/2014/main" val="461208058"/>
                  </a:ext>
                </a:extLst>
              </a:tr>
              <a:tr h="301293">
                <a:tc>
                  <a:txBody>
                    <a:bodyPr/>
                    <a:lstStyle/>
                    <a:p>
                      <a:pPr algn="l" rtl="0" fontAlgn="b">
                        <a:buNone/>
                      </a:pPr>
                      <a:r>
                        <a:rPr lang="en-IN" sz="900" dirty="0">
                          <a:effectLst/>
                        </a:rPr>
                        <a:t>P4_Level</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algn="l" rtl="0" fontAlgn="b">
                        <a:buNone/>
                      </a:pPr>
                      <a:r>
                        <a:rPr lang="en-IN" sz="900" dirty="0">
                          <a:effectLst/>
                        </a:rPr>
                        <a:t>Decimal</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algn="l" rtl="0" fontAlgn="b">
                        <a:buNone/>
                      </a:pPr>
                      <a:r>
                        <a:rPr lang="en-IN" sz="900" dirty="0">
                          <a:effectLst/>
                        </a:rPr>
                        <a:t>Progesterone level (ng/ml).</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algn="l" rtl="0" fontAlgn="b">
                        <a:buNone/>
                      </a:pPr>
                      <a:r>
                        <a:rPr lang="en-US" sz="900" dirty="0">
                          <a:effectLst/>
                        </a:rPr>
                        <a:t>Early rise flags premature luteinization.</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extLst>
                  <a:ext uri="{0D108BD9-81ED-4DB2-BD59-A6C34878D82A}">
                    <a16:rowId xmlns:a16="http://schemas.microsoft.com/office/drawing/2014/main" val="3456606008"/>
                  </a:ext>
                </a:extLst>
              </a:tr>
              <a:tr h="301293">
                <a:tc>
                  <a:txBody>
                    <a:bodyPr/>
                    <a:lstStyle/>
                    <a:p>
                      <a:pPr algn="l" rtl="0" fontAlgn="b">
                        <a:buNone/>
                      </a:pPr>
                      <a:r>
                        <a:rPr lang="en-IN" sz="900" dirty="0">
                          <a:effectLst/>
                        </a:rPr>
                        <a:t>Follicle_Size_Avg</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algn="l" rtl="0" fontAlgn="b">
                        <a:buNone/>
                      </a:pPr>
                      <a:r>
                        <a:rPr lang="en-IN" sz="900" dirty="0">
                          <a:effectLst/>
                        </a:rPr>
                        <a:t>Decimal</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algn="l" rtl="0" fontAlgn="b">
                        <a:buNone/>
                      </a:pPr>
                      <a:r>
                        <a:rPr lang="en-US" sz="900" dirty="0">
                          <a:effectLst/>
                        </a:rPr>
                        <a:t>Mean diameter of lead follicles (mm).</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algn="l" rtl="0" fontAlgn="b">
                        <a:buNone/>
                      </a:pPr>
                      <a:r>
                        <a:rPr lang="nb-NO" sz="900">
                          <a:effectLst/>
                        </a:rPr>
                        <a:t>Determines "Trigger" timing for retrieval.</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extLst>
                  <a:ext uri="{0D108BD9-81ED-4DB2-BD59-A6C34878D82A}">
                    <a16:rowId xmlns:a16="http://schemas.microsoft.com/office/drawing/2014/main" val="823176328"/>
                  </a:ext>
                </a:extLst>
              </a:tr>
              <a:tr h="301293">
                <a:tc>
                  <a:txBody>
                    <a:bodyPr/>
                    <a:lstStyle/>
                    <a:p>
                      <a:pPr algn="l" rtl="0" fontAlgn="b">
                        <a:buNone/>
                      </a:pPr>
                      <a:r>
                        <a:rPr lang="en-IN" sz="900" dirty="0">
                          <a:effectLst/>
                        </a:rPr>
                        <a:t>E2_Velocity</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algn="l" rtl="0" fontAlgn="b">
                        <a:buNone/>
                      </a:pPr>
                      <a:r>
                        <a:rPr lang="en-IN" sz="900" dirty="0">
                          <a:effectLst/>
                        </a:rPr>
                        <a:t>Decimal</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algn="l" rtl="0" fontAlgn="b">
                        <a:buNone/>
                      </a:pPr>
                      <a:r>
                        <a:rPr lang="en-US" sz="900" dirty="0">
                          <a:effectLst/>
                        </a:rPr>
                        <a:t>% change in E2 over last 48 hours.</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algn="l" rtl="0" fontAlgn="b">
                        <a:buNone/>
                      </a:pPr>
                      <a:r>
                        <a:rPr lang="en-US" sz="900" dirty="0">
                          <a:effectLst/>
                        </a:rPr>
                        <a:t>Key Risk Indicator for hyper-response.</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extLst>
                  <a:ext uri="{0D108BD9-81ED-4DB2-BD59-A6C34878D82A}">
                    <a16:rowId xmlns:a16="http://schemas.microsoft.com/office/drawing/2014/main" val="3717684049"/>
                  </a:ext>
                </a:extLst>
              </a:tr>
              <a:tr h="301293">
                <a:tc>
                  <a:txBody>
                    <a:bodyPr/>
                    <a:lstStyle/>
                    <a:p>
                      <a:pPr algn="l" rtl="0" fontAlgn="b">
                        <a:buNone/>
                      </a:pPr>
                      <a:r>
                        <a:rPr lang="en-IN" sz="900" dirty="0">
                          <a:effectLst/>
                        </a:rPr>
                        <a:t>Risk_Score_OHSS</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algn="l" rtl="0" fontAlgn="b">
                        <a:buNone/>
                      </a:pPr>
                      <a:r>
                        <a:rPr lang="en-IN" sz="900" dirty="0">
                          <a:effectLst/>
                        </a:rPr>
                        <a:t>Scale (1-10)</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algn="l" rtl="0" fontAlgn="b">
                        <a:buNone/>
                      </a:pPr>
                      <a:r>
                        <a:rPr lang="en-US" sz="900" dirty="0">
                          <a:effectLst/>
                        </a:rPr>
                        <a:t>Weighted score based on E2 and AFC.</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algn="l" rtl="0" fontAlgn="b">
                        <a:buNone/>
                      </a:pPr>
                      <a:r>
                        <a:rPr lang="en-IN" sz="900" dirty="0">
                          <a:effectLst/>
                        </a:rPr>
                        <a:t>Visual flag for clinician intervention.</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extLst>
                  <a:ext uri="{0D108BD9-81ED-4DB2-BD59-A6C34878D82A}">
                    <a16:rowId xmlns:a16="http://schemas.microsoft.com/office/drawing/2014/main" val="1354141991"/>
                  </a:ext>
                </a:extLst>
              </a:tr>
              <a:tr h="441896">
                <a:tc>
                  <a:txBody>
                    <a:bodyPr/>
                    <a:lstStyle/>
                    <a:p>
                      <a:pPr algn="l" rtl="0" fontAlgn="b">
                        <a:buNone/>
                      </a:pPr>
                      <a:r>
                        <a:rPr lang="en-IN" sz="900" dirty="0">
                          <a:effectLst/>
                        </a:rPr>
                        <a:t>M2_Oocyte_Rate</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algn="l" rtl="0" fontAlgn="b">
                        <a:buNone/>
                      </a:pPr>
                      <a:r>
                        <a:rPr lang="en-IN" sz="900" dirty="0">
                          <a:effectLst/>
                        </a:rPr>
                        <a:t>Percentage</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algn="l" rtl="0" fontAlgn="b">
                        <a:buNone/>
                      </a:pPr>
                      <a:r>
                        <a:rPr lang="en-US" sz="900" dirty="0">
                          <a:effectLst/>
                        </a:rPr>
                        <a:t>Ratio of mature (M2) to total eggs.</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algn="l" rtl="0" fontAlgn="b">
                        <a:buNone/>
                      </a:pPr>
                      <a:r>
                        <a:rPr lang="en-IN" sz="900" dirty="0">
                          <a:effectLst/>
                        </a:rPr>
                        <a:t>Measures laboratory/stimulation efficiency.</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extLst>
                  <a:ext uri="{0D108BD9-81ED-4DB2-BD59-A6C34878D82A}">
                    <a16:rowId xmlns:a16="http://schemas.microsoft.com/office/drawing/2014/main" val="1025573811"/>
                  </a:ext>
                </a:extLst>
              </a:tr>
              <a:tr h="301293">
                <a:tc>
                  <a:txBody>
                    <a:bodyPr/>
                    <a:lstStyle/>
                    <a:p>
                      <a:pPr algn="l" rtl="0" fontAlgn="b">
                        <a:buNone/>
                      </a:pPr>
                      <a:r>
                        <a:rPr lang="en-IN" sz="900" dirty="0">
                          <a:effectLst/>
                        </a:rPr>
                        <a:t>Fert_Rate_2PN</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algn="l" rtl="0" fontAlgn="b">
                        <a:buNone/>
                      </a:pPr>
                      <a:r>
                        <a:rPr lang="en-IN" sz="900" dirty="0">
                          <a:effectLst/>
                        </a:rPr>
                        <a:t>Percentage</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algn="l" rtl="0" fontAlgn="b">
                        <a:buNone/>
                      </a:pPr>
                      <a:r>
                        <a:rPr lang="en-IN" sz="900" dirty="0">
                          <a:effectLst/>
                        </a:rPr>
                        <a:t>% of oocytes successfully fertilized.</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tc>
                  <a:txBody>
                    <a:bodyPr/>
                    <a:lstStyle/>
                    <a:p>
                      <a:pPr algn="l" rtl="0" fontAlgn="b">
                        <a:buNone/>
                      </a:pPr>
                      <a:r>
                        <a:rPr lang="en-US" sz="900" dirty="0">
                          <a:effectLst/>
                        </a:rPr>
                        <a:t>Biological success marker for the cycle.</a:t>
                      </a:r>
                    </a:p>
                  </a:txBody>
                  <a:tcPr marL="14970" marR="14970" marT="9980" marB="9980" anchor="b">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tcPr>
                </a:tc>
                <a:extLst>
                  <a:ext uri="{0D108BD9-81ED-4DB2-BD59-A6C34878D82A}">
                    <a16:rowId xmlns:a16="http://schemas.microsoft.com/office/drawing/2014/main" val="22434768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Shape 111"/>
        <p:cNvGrpSpPr/>
        <p:nvPr/>
      </p:nvGrpSpPr>
      <p:grpSpPr>
        <a:xfrm>
          <a:off x="0" y="0"/>
          <a:ext cx="0" cy="0"/>
          <a:chOff x="0" y="0"/>
          <a:chExt cx="0" cy="0"/>
        </a:xfrm>
      </p:grpSpPr>
      <p:sp>
        <p:nvSpPr>
          <p:cNvPr id="112" name="Google Shape;112;p25"/>
          <p:cNvSpPr txBox="1">
            <a:spLocks noGrp="1"/>
          </p:cNvSpPr>
          <p:nvPr>
            <p:ph type="title"/>
          </p:nvPr>
        </p:nvSpPr>
        <p:spPr>
          <a:xfrm>
            <a:off x="248194" y="147682"/>
            <a:ext cx="9247200" cy="535500"/>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2300"/>
              <a:buFont typeface="Georgia"/>
              <a:buNone/>
            </a:pPr>
            <a:r>
              <a:rPr lang="en-US" sz="3200" b="1" dirty="0">
                <a:latin typeface="Times New Roman"/>
                <a:ea typeface="Times New Roman"/>
                <a:cs typeface="Times New Roman"/>
                <a:sym typeface="Times New Roman"/>
              </a:rPr>
              <a:t>Exploratory Data Analysis [EDA]</a:t>
            </a:r>
            <a:endParaRPr sz="3200" dirty="0">
              <a:latin typeface="Times New Roman"/>
              <a:ea typeface="Times New Roman"/>
              <a:cs typeface="Times New Roman"/>
              <a:sym typeface="Times New Roman"/>
            </a:endParaRPr>
          </a:p>
        </p:txBody>
      </p:sp>
      <p:sp>
        <p:nvSpPr>
          <p:cNvPr id="113" name="Google Shape;113;p25"/>
          <p:cNvSpPr txBox="1">
            <a:spLocks noGrp="1"/>
          </p:cNvSpPr>
          <p:nvPr>
            <p:ph type="sldNum" idx="12"/>
          </p:nvPr>
        </p:nvSpPr>
        <p:spPr>
          <a:xfrm>
            <a:off x="11639552" y="6350000"/>
            <a:ext cx="390525" cy="288925"/>
          </a:xfrm>
          <a:prstGeom prst="rect">
            <a:avLst/>
          </a:prstGeom>
          <a:noFill/>
          <a:ln>
            <a:noFill/>
          </a:ln>
        </p:spPr>
        <p:txBody>
          <a:bodyPr spcFirstLastPara="1" wrap="square" lIns="91400" tIns="45675" rIns="91400" bIns="45675"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dirty="0"/>
          </a:p>
        </p:txBody>
      </p:sp>
      <p:sp>
        <p:nvSpPr>
          <p:cNvPr id="114" name="Google Shape;114;p25"/>
          <p:cNvSpPr txBox="1"/>
          <p:nvPr/>
        </p:nvSpPr>
        <p:spPr>
          <a:xfrm>
            <a:off x="609600" y="1181100"/>
            <a:ext cx="19431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a:ea typeface="Calibri"/>
              <a:cs typeface="Calibri"/>
              <a:sym typeface="Calibri"/>
            </a:endParaRPr>
          </a:p>
        </p:txBody>
      </p:sp>
      <p:sp>
        <p:nvSpPr>
          <p:cNvPr id="115" name="Google Shape;115;p25"/>
          <p:cNvSpPr txBox="1"/>
          <p:nvPr/>
        </p:nvSpPr>
        <p:spPr>
          <a:xfrm>
            <a:off x="3238500" y="2076450"/>
            <a:ext cx="89916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a:ea typeface="Calibri"/>
              <a:cs typeface="Calibri"/>
              <a:sym typeface="Calibri"/>
            </a:endParaRPr>
          </a:p>
        </p:txBody>
      </p:sp>
      <p:pic>
        <p:nvPicPr>
          <p:cNvPr id="118" name="Google Shape;118;p25" descr="360DigiTMG Reviews - 52 Reviews of 360digitmg.com | Sitejabber"/>
          <p:cNvPicPr preferRelativeResize="0"/>
          <p:nvPr/>
        </p:nvPicPr>
        <p:blipFill rotWithShape="1">
          <a:blip r:embed="rId3">
            <a:alphaModFix/>
          </a:blip>
          <a:srcRect/>
          <a:stretch/>
        </p:blipFill>
        <p:spPr>
          <a:xfrm>
            <a:off x="9751545" y="5952931"/>
            <a:ext cx="2277039" cy="808338"/>
          </a:xfrm>
          <a:prstGeom prst="rect">
            <a:avLst/>
          </a:prstGeom>
          <a:noFill/>
          <a:ln>
            <a:noFill/>
          </a:ln>
        </p:spPr>
      </p:pic>
      <p:sp>
        <p:nvSpPr>
          <p:cNvPr id="119" name="Google Shape;119;p25"/>
          <p:cNvSpPr/>
          <p:nvPr/>
        </p:nvSpPr>
        <p:spPr>
          <a:xfrm>
            <a:off x="559838" y="1181100"/>
            <a:ext cx="5374433" cy="4771831"/>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dirty="0">
              <a:solidFill>
                <a:schemeClr val="dk1"/>
              </a:solidFill>
              <a:latin typeface="Arial"/>
              <a:ea typeface="Arial"/>
              <a:cs typeface="Arial"/>
              <a:sym typeface="Arial"/>
            </a:endParaRPr>
          </a:p>
        </p:txBody>
      </p:sp>
      <p:sp>
        <p:nvSpPr>
          <p:cNvPr id="120" name="Google Shape;120;p25"/>
          <p:cNvSpPr/>
          <p:nvPr/>
        </p:nvSpPr>
        <p:spPr>
          <a:xfrm>
            <a:off x="6187475" y="1181100"/>
            <a:ext cx="5374433" cy="4771831"/>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dirty="0">
              <a:solidFill>
                <a:schemeClr val="dk1"/>
              </a:solidFill>
              <a:latin typeface="Arial"/>
              <a:ea typeface="Arial"/>
              <a:cs typeface="Arial"/>
              <a:sym typeface="Arial"/>
            </a:endParaRPr>
          </a:p>
        </p:txBody>
      </p:sp>
      <p:sp>
        <p:nvSpPr>
          <p:cNvPr id="121" name="Google Shape;121;p25"/>
          <p:cNvSpPr txBox="1"/>
          <p:nvPr/>
        </p:nvSpPr>
        <p:spPr>
          <a:xfrm>
            <a:off x="559838" y="1181100"/>
            <a:ext cx="5374433" cy="3077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1" i="0" u="sng" strike="noStrike" cap="none" dirty="0">
                <a:solidFill>
                  <a:srgbClr val="000000"/>
                </a:solidFill>
                <a:latin typeface="Arial"/>
                <a:ea typeface="Arial"/>
                <a:cs typeface="Arial"/>
                <a:sym typeface="Arial"/>
              </a:rPr>
              <a:t>Statistical Insights</a:t>
            </a:r>
          </a:p>
        </p:txBody>
      </p:sp>
      <p:sp>
        <p:nvSpPr>
          <p:cNvPr id="122" name="Google Shape;122;p25"/>
          <p:cNvSpPr txBox="1"/>
          <p:nvPr/>
        </p:nvSpPr>
        <p:spPr>
          <a:xfrm>
            <a:off x="6187475" y="1175021"/>
            <a:ext cx="5374433"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1" i="0" u="sng" strike="noStrike" cap="none" dirty="0">
                <a:solidFill>
                  <a:srgbClr val="000000"/>
                </a:solidFill>
                <a:latin typeface="Arial"/>
                <a:ea typeface="Arial"/>
                <a:cs typeface="Arial"/>
                <a:sym typeface="Arial"/>
              </a:rPr>
              <a:t>Business Insights</a:t>
            </a:r>
            <a:endParaRPr sz="1400" b="1" i="0" u="sng" strike="noStrike" cap="none" dirty="0">
              <a:solidFill>
                <a:srgbClr val="000000"/>
              </a:solidFill>
              <a:latin typeface="Arial"/>
              <a:ea typeface="Arial"/>
              <a:cs typeface="Arial"/>
              <a:sym typeface="Arial"/>
            </a:endParaRPr>
          </a:p>
        </p:txBody>
      </p:sp>
      <p:grpSp>
        <p:nvGrpSpPr>
          <p:cNvPr id="8" name="Group 7">
            <a:extLst>
              <a:ext uri="{FF2B5EF4-FFF2-40B4-BE49-F238E27FC236}">
                <a16:creationId xmlns:a16="http://schemas.microsoft.com/office/drawing/2014/main" id="{BE01B1A8-4290-E3E5-0033-F8E5C2421340}"/>
              </a:ext>
            </a:extLst>
          </p:cNvPr>
          <p:cNvGrpSpPr/>
          <p:nvPr/>
        </p:nvGrpSpPr>
        <p:grpSpPr>
          <a:xfrm>
            <a:off x="609600" y="1853022"/>
            <a:ext cx="6133774" cy="2124415"/>
            <a:chOff x="609600" y="1674445"/>
            <a:chExt cx="6133774" cy="2124415"/>
          </a:xfrm>
        </p:grpSpPr>
        <p:sp>
          <p:nvSpPr>
            <p:cNvPr id="3" name="TextBox 2">
              <a:extLst>
                <a:ext uri="{FF2B5EF4-FFF2-40B4-BE49-F238E27FC236}">
                  <a16:creationId xmlns:a16="http://schemas.microsoft.com/office/drawing/2014/main" id="{791D16C7-2B88-565C-2795-5AD17479C83A}"/>
                </a:ext>
              </a:extLst>
            </p:cNvPr>
            <p:cNvSpPr txBox="1"/>
            <p:nvPr/>
          </p:nvSpPr>
          <p:spPr>
            <a:xfrm>
              <a:off x="630092" y="1674445"/>
              <a:ext cx="6113282" cy="523220"/>
            </a:xfrm>
            <a:prstGeom prst="rect">
              <a:avLst/>
            </a:prstGeom>
            <a:noFill/>
          </p:spPr>
          <p:txBody>
            <a:bodyPr wrap="square">
              <a:spAutoFit/>
            </a:bodyPr>
            <a:lstStyle/>
            <a:p>
              <a:pPr marL="285750" indent="-285750">
                <a:buFont typeface="Wingdings" panose="05000000000000000000" pitchFamily="2" charset="2"/>
                <a:buChar char="q"/>
              </a:pPr>
              <a:r>
                <a:rPr lang="en-US" dirty="0"/>
                <a:t>A </a:t>
              </a:r>
              <a:r>
                <a:rPr lang="en-US" b="1" dirty="0"/>
                <a:t>Mean</a:t>
              </a:r>
              <a:r>
                <a:rPr lang="en-US" dirty="0"/>
                <a:t> AMH is misleading due to these outliers; the </a:t>
              </a:r>
              <a:r>
                <a:rPr lang="en-US" b="1" dirty="0"/>
                <a:t>Median</a:t>
              </a:r>
              <a:r>
                <a:rPr lang="en-US" dirty="0"/>
                <a:t> </a:t>
              </a:r>
            </a:p>
            <a:p>
              <a:r>
                <a:rPr lang="en-US" dirty="0"/>
                <a:t>      is a better baseline for protocol design.</a:t>
              </a:r>
              <a:endParaRPr lang="en-IN" dirty="0"/>
            </a:p>
          </p:txBody>
        </p:sp>
        <p:sp>
          <p:nvSpPr>
            <p:cNvPr id="5" name="TextBox 4">
              <a:extLst>
                <a:ext uri="{FF2B5EF4-FFF2-40B4-BE49-F238E27FC236}">
                  <a16:creationId xmlns:a16="http://schemas.microsoft.com/office/drawing/2014/main" id="{9081D05B-204E-F8F6-12B6-C683B945B702}"/>
                </a:ext>
              </a:extLst>
            </p:cNvPr>
            <p:cNvSpPr txBox="1"/>
            <p:nvPr/>
          </p:nvSpPr>
          <p:spPr>
            <a:xfrm>
              <a:off x="609600" y="2389312"/>
              <a:ext cx="6113282" cy="523220"/>
            </a:xfrm>
            <a:prstGeom prst="rect">
              <a:avLst/>
            </a:prstGeom>
            <a:noFill/>
          </p:spPr>
          <p:txBody>
            <a:bodyPr wrap="square">
              <a:spAutoFit/>
            </a:bodyPr>
            <a:lstStyle/>
            <a:p>
              <a:pPr marL="285750" indent="-285750">
                <a:buFont typeface="Wingdings" panose="05000000000000000000" pitchFamily="2" charset="2"/>
                <a:buChar char="q"/>
              </a:pPr>
              <a:r>
                <a:rPr lang="en-US" dirty="0"/>
                <a:t>The </a:t>
              </a:r>
              <a:r>
                <a:rPr lang="en-US" b="1" dirty="0"/>
                <a:t>Standard Deviation</a:t>
              </a:r>
              <a:r>
                <a:rPr lang="en-US" dirty="0"/>
                <a:t> of HCG rise is tighter in successful </a:t>
              </a:r>
            </a:p>
            <a:p>
              <a:r>
                <a:rPr lang="en-US" dirty="0"/>
                <a:t>       live-birth outcomes than in biochemical pregnancies.</a:t>
              </a:r>
              <a:endParaRPr lang="en-IN" dirty="0"/>
            </a:p>
          </p:txBody>
        </p:sp>
        <p:sp>
          <p:nvSpPr>
            <p:cNvPr id="7" name="Rectangle 2">
              <a:extLst>
                <a:ext uri="{FF2B5EF4-FFF2-40B4-BE49-F238E27FC236}">
                  <a16:creationId xmlns:a16="http://schemas.microsoft.com/office/drawing/2014/main" id="{FC303A7A-5BD2-3C09-EA71-BB4B54D27484}"/>
                </a:ext>
              </a:extLst>
            </p:cNvPr>
            <p:cNvSpPr>
              <a:spLocks noChangeArrowheads="1"/>
            </p:cNvSpPr>
            <p:nvPr/>
          </p:nvSpPr>
          <p:spPr bwMode="auto">
            <a:xfrm>
              <a:off x="630092" y="3106363"/>
              <a:ext cx="5267789" cy="692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i="0" u="none" cap="none" normalizeH="0" baseline="0" dirty="0">
                  <a:ln>
                    <a:noFill/>
                  </a:ln>
                  <a:solidFill>
                    <a:schemeClr val="tx1"/>
                  </a:solidFill>
                  <a:effectLst/>
                  <a:latin typeface="+mn-lt"/>
                </a:rPr>
                <a:t>After a certain threshold (often $&gt;300$ IU/day), increasing </a:t>
              </a:r>
            </a:p>
            <a:p>
              <a:pPr marR="0" lvl="0" algn="l" defTabSz="914400" rtl="0" eaLnBrk="0" fontAlgn="base" latinLnBrk="0" hangingPunct="0">
                <a:lnSpc>
                  <a:spcPct val="100000"/>
                </a:lnSpc>
                <a:spcBef>
                  <a:spcPct val="0"/>
                </a:spcBef>
                <a:spcAft>
                  <a:spcPct val="0"/>
                </a:spcAft>
                <a:buClrTx/>
                <a:buSzTx/>
                <a:tabLst/>
              </a:pPr>
              <a:r>
                <a:rPr kumimoji="0" lang="en-US" altLang="en-US" i="0" u="none" cap="none" normalizeH="0" baseline="0" dirty="0">
                  <a:ln>
                    <a:noFill/>
                  </a:ln>
                  <a:solidFill>
                    <a:schemeClr val="tx1"/>
                  </a:solidFill>
                  <a:effectLst/>
                  <a:latin typeface="+mn-lt"/>
                </a:rPr>
                <a:t>      the dose does </a:t>
              </a:r>
              <a:r>
                <a:rPr kumimoji="0" lang="en-US" altLang="en-US" i="1" u="none" cap="none" normalizeH="0" baseline="0" dirty="0">
                  <a:ln>
                    <a:noFill/>
                  </a:ln>
                  <a:solidFill>
                    <a:schemeClr val="tx1"/>
                  </a:solidFill>
                  <a:effectLst/>
                  <a:latin typeface="+mn-lt"/>
                </a:rPr>
                <a:t>not</a:t>
              </a:r>
              <a:r>
                <a:rPr kumimoji="0" lang="en-US" altLang="en-US" i="0" u="none" cap="none" normalizeH="0" baseline="0" dirty="0">
                  <a:ln>
                    <a:noFill/>
                  </a:ln>
                  <a:solidFill>
                    <a:schemeClr val="tx1"/>
                  </a:solidFill>
                  <a:effectLst/>
                  <a:latin typeface="+mn-lt"/>
                </a:rPr>
                <a:t> linearly increase the oocyte count. This is </a:t>
              </a:r>
            </a:p>
            <a:p>
              <a:pPr marR="0" lvl="0" algn="l" defTabSz="914400" rtl="0" eaLnBrk="0" fontAlgn="base" latinLnBrk="0" hangingPunct="0">
                <a:lnSpc>
                  <a:spcPct val="100000"/>
                </a:lnSpc>
                <a:spcBef>
                  <a:spcPct val="0"/>
                </a:spcBef>
                <a:spcAft>
                  <a:spcPct val="0"/>
                </a:spcAft>
                <a:buClrTx/>
                <a:buSzTx/>
                <a:tabLst/>
              </a:pPr>
              <a:r>
                <a:rPr lang="en-US" altLang="en-US" dirty="0">
                  <a:solidFill>
                    <a:schemeClr val="tx1"/>
                  </a:solidFill>
                  <a:latin typeface="+mn-lt"/>
                </a:rPr>
                <a:t>      </a:t>
              </a:r>
              <a:r>
                <a:rPr kumimoji="0" lang="en-US" altLang="en-US" i="0" u="none" cap="none" normalizeH="0" baseline="0" dirty="0">
                  <a:ln>
                    <a:noFill/>
                  </a:ln>
                  <a:solidFill>
                    <a:schemeClr val="tx1"/>
                  </a:solidFill>
                  <a:effectLst/>
                  <a:latin typeface="+mn-lt"/>
                </a:rPr>
                <a:t>the </a:t>
              </a:r>
              <a:r>
                <a:rPr kumimoji="0" lang="en-US" altLang="en-US" b="1" i="0" u="none" cap="none" normalizeH="0" baseline="0" dirty="0">
                  <a:ln>
                    <a:noFill/>
                  </a:ln>
                  <a:solidFill>
                    <a:schemeClr val="tx1"/>
                  </a:solidFill>
                  <a:effectLst/>
                  <a:latin typeface="+mn-lt"/>
                </a:rPr>
                <a:t>Law of Diminishing Returns</a:t>
              </a:r>
              <a:r>
                <a:rPr kumimoji="0" lang="en-US" altLang="en-US" i="0" u="none" cap="none" normalizeH="0" baseline="0" dirty="0">
                  <a:ln>
                    <a:noFill/>
                  </a:ln>
                  <a:solidFill>
                    <a:schemeClr val="tx1"/>
                  </a:solidFill>
                  <a:effectLst/>
                  <a:latin typeface="+mn-lt"/>
                </a:rPr>
                <a:t>.</a:t>
              </a:r>
            </a:p>
          </p:txBody>
        </p:sp>
      </p:grpSp>
      <p:grpSp>
        <p:nvGrpSpPr>
          <p:cNvPr id="15" name="Group 14">
            <a:extLst>
              <a:ext uri="{FF2B5EF4-FFF2-40B4-BE49-F238E27FC236}">
                <a16:creationId xmlns:a16="http://schemas.microsoft.com/office/drawing/2014/main" id="{6B407A4A-FD7E-BA35-12ED-A01E4E132177}"/>
              </a:ext>
            </a:extLst>
          </p:cNvPr>
          <p:cNvGrpSpPr/>
          <p:nvPr/>
        </p:nvGrpSpPr>
        <p:grpSpPr>
          <a:xfrm>
            <a:off x="6348354" y="1879867"/>
            <a:ext cx="10427108" cy="2960993"/>
            <a:chOff x="6348354" y="1760550"/>
            <a:chExt cx="10427108" cy="2960993"/>
          </a:xfrm>
        </p:grpSpPr>
        <p:sp>
          <p:nvSpPr>
            <p:cNvPr id="9" name="Rectangle 3">
              <a:extLst>
                <a:ext uri="{FF2B5EF4-FFF2-40B4-BE49-F238E27FC236}">
                  <a16:creationId xmlns:a16="http://schemas.microsoft.com/office/drawing/2014/main" id="{8D57F2EF-E040-2CAA-1745-CCDCA9033541}"/>
                </a:ext>
              </a:extLst>
            </p:cNvPr>
            <p:cNvSpPr>
              <a:spLocks noChangeArrowheads="1"/>
            </p:cNvSpPr>
            <p:nvPr/>
          </p:nvSpPr>
          <p:spPr bwMode="auto">
            <a:xfrm>
              <a:off x="6348354" y="1760550"/>
              <a:ext cx="5027338" cy="907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b="0" i="0" u="none" cap="none" normalizeH="0" baseline="0" dirty="0">
                  <a:ln>
                    <a:noFill/>
                  </a:ln>
                  <a:solidFill>
                    <a:schemeClr val="tx1"/>
                  </a:solidFill>
                  <a:effectLst/>
                  <a:latin typeface="+mn-lt"/>
                </a:rPr>
                <a:t>Reducing "Extended Cycles" (those lasting $13+$ days) </a:t>
              </a:r>
            </a:p>
            <a:p>
              <a:pPr marR="0" lvl="0" algn="l" defTabSz="914400" rtl="0" eaLnBrk="0" fontAlgn="base" latinLnBrk="0" hangingPunct="0">
                <a:lnSpc>
                  <a:spcPct val="100000"/>
                </a:lnSpc>
                <a:spcBef>
                  <a:spcPct val="0"/>
                </a:spcBef>
                <a:spcAft>
                  <a:spcPct val="0"/>
                </a:spcAft>
                <a:buClrTx/>
                <a:buSzTx/>
                <a:tabLst/>
              </a:pPr>
              <a:r>
                <a:rPr kumimoji="0" lang="en-US" altLang="en-US" b="0" i="0" u="none" cap="none" normalizeH="0" baseline="0" dirty="0">
                  <a:ln>
                    <a:noFill/>
                  </a:ln>
                  <a:solidFill>
                    <a:schemeClr val="tx1"/>
                  </a:solidFill>
                  <a:effectLst/>
                  <a:latin typeface="+mn-lt"/>
                </a:rPr>
                <a:t>      through early protocol adjustment can reduce medication </a:t>
              </a:r>
            </a:p>
            <a:p>
              <a:pPr marR="0" lvl="0" algn="l" defTabSz="914400" rtl="0" eaLnBrk="0" fontAlgn="base" latinLnBrk="0" hangingPunct="0">
                <a:lnSpc>
                  <a:spcPct val="100000"/>
                </a:lnSpc>
                <a:spcBef>
                  <a:spcPct val="0"/>
                </a:spcBef>
                <a:spcAft>
                  <a:spcPct val="0"/>
                </a:spcAft>
                <a:buClrTx/>
                <a:buSzTx/>
                <a:tabLst/>
              </a:pPr>
              <a:r>
                <a:rPr kumimoji="0" lang="en-US" altLang="en-US" b="0" i="0" u="none" cap="none" normalizeH="0" baseline="0" dirty="0">
                  <a:ln>
                    <a:noFill/>
                  </a:ln>
                  <a:solidFill>
                    <a:schemeClr val="tx1"/>
                  </a:solidFill>
                  <a:effectLst/>
                  <a:latin typeface="+mn-lt"/>
                </a:rPr>
                <a:t>      costs by </a:t>
              </a:r>
              <a:r>
                <a:rPr kumimoji="0" lang="en-US" altLang="en-US" b="1" i="0" u="none" cap="none" normalizeH="0" baseline="0" dirty="0">
                  <a:ln>
                    <a:noFill/>
                  </a:ln>
                  <a:solidFill>
                    <a:schemeClr val="tx1"/>
                  </a:solidFill>
                  <a:effectLst/>
                  <a:latin typeface="+mn-lt"/>
                </a:rPr>
                <a:t>15-20%</a:t>
              </a:r>
              <a:r>
                <a:rPr kumimoji="0" lang="en-US" altLang="en-US" b="0" i="0" u="none" cap="none" normalizeH="0" baseline="0" dirty="0">
                  <a:ln>
                    <a:noFill/>
                  </a:ln>
                  <a:solidFill>
                    <a:schemeClr val="tx1"/>
                  </a:solidFill>
                  <a:effectLst/>
                  <a:latin typeface="+mn-lt"/>
                </a:rPr>
                <a:t> per patient and decrease clinician </a:t>
              </a:r>
            </a:p>
            <a:p>
              <a:pPr marR="0" lvl="0" algn="l" defTabSz="914400" rtl="0" eaLnBrk="0" fontAlgn="base" latinLnBrk="0" hangingPunct="0">
                <a:lnSpc>
                  <a:spcPct val="100000"/>
                </a:lnSpc>
                <a:spcBef>
                  <a:spcPct val="0"/>
                </a:spcBef>
                <a:spcAft>
                  <a:spcPct val="0"/>
                </a:spcAft>
                <a:buClrTx/>
                <a:buSzTx/>
                <a:tabLst/>
              </a:pPr>
              <a:r>
                <a:rPr kumimoji="0" lang="en-US" altLang="en-US" b="0" i="0" u="none" cap="none" normalizeH="0" baseline="0" dirty="0">
                  <a:ln>
                    <a:noFill/>
                  </a:ln>
                  <a:solidFill>
                    <a:schemeClr val="tx1"/>
                  </a:solidFill>
                  <a:effectLst/>
                  <a:latin typeface="+mn-lt"/>
                </a:rPr>
                <a:t>      monitoring hours.</a:t>
              </a:r>
            </a:p>
          </p:txBody>
        </p:sp>
        <p:sp>
          <p:nvSpPr>
            <p:cNvPr id="11" name="TextBox 10">
              <a:extLst>
                <a:ext uri="{FF2B5EF4-FFF2-40B4-BE49-F238E27FC236}">
                  <a16:creationId xmlns:a16="http://schemas.microsoft.com/office/drawing/2014/main" id="{3514A209-9995-49F4-D029-955F7F185108}"/>
                </a:ext>
              </a:extLst>
            </p:cNvPr>
            <p:cNvSpPr txBox="1"/>
            <p:nvPr/>
          </p:nvSpPr>
          <p:spPr>
            <a:xfrm>
              <a:off x="6348354" y="2785609"/>
              <a:ext cx="10427108" cy="954107"/>
            </a:xfrm>
            <a:prstGeom prst="rect">
              <a:avLst/>
            </a:prstGeom>
            <a:noFill/>
          </p:spPr>
          <p:txBody>
            <a:bodyPr wrap="square">
              <a:spAutoFit/>
            </a:bodyPr>
            <a:lstStyle/>
            <a:p>
              <a:pPr marL="285750" indent="-285750">
                <a:buFont typeface="Wingdings" panose="05000000000000000000" pitchFamily="2" charset="2"/>
                <a:buChar char="q"/>
              </a:pPr>
              <a:r>
                <a:rPr lang="en-US" dirty="0"/>
                <a:t>Early detection allows for "Coastings" or "Trigger Changes" </a:t>
              </a:r>
            </a:p>
            <a:p>
              <a:r>
                <a:rPr lang="en-US" dirty="0"/>
                <a:t>      (using Lupron instead of HCG), which minimizes </a:t>
              </a:r>
            </a:p>
            <a:p>
              <a:r>
                <a:rPr lang="en-US" b="1" dirty="0"/>
                <a:t>      Complication-Related Costs</a:t>
              </a:r>
              <a:r>
                <a:rPr lang="en-US" dirty="0"/>
                <a:t>—one of your primary success </a:t>
              </a:r>
            </a:p>
            <a:p>
              <a:r>
                <a:rPr lang="en-US" dirty="0"/>
                <a:t>      criteria.</a:t>
              </a:r>
              <a:endParaRPr lang="en-IN" dirty="0"/>
            </a:p>
          </p:txBody>
        </p:sp>
        <p:sp>
          <p:nvSpPr>
            <p:cNvPr id="13" name="TextBox 12">
              <a:extLst>
                <a:ext uri="{FF2B5EF4-FFF2-40B4-BE49-F238E27FC236}">
                  <a16:creationId xmlns:a16="http://schemas.microsoft.com/office/drawing/2014/main" id="{3F8D83F9-39E4-CCCE-3E36-67ED5D5D3744}"/>
                </a:ext>
              </a:extLst>
            </p:cNvPr>
            <p:cNvSpPr txBox="1"/>
            <p:nvPr/>
          </p:nvSpPr>
          <p:spPr>
            <a:xfrm>
              <a:off x="6348354" y="3767436"/>
              <a:ext cx="10427108" cy="954107"/>
            </a:xfrm>
            <a:prstGeom prst="rect">
              <a:avLst/>
            </a:prstGeom>
            <a:noFill/>
          </p:spPr>
          <p:txBody>
            <a:bodyPr wrap="square">
              <a:spAutoFit/>
            </a:bodyPr>
            <a:lstStyle/>
            <a:p>
              <a:pPr marL="285750" indent="-285750">
                <a:buFont typeface="Wingdings" panose="05000000000000000000" pitchFamily="2" charset="2"/>
                <a:buChar char="q"/>
              </a:pPr>
              <a:r>
                <a:rPr lang="en-US" dirty="0"/>
                <a:t>This suggests that "Visual Grading" alone is insufficient for </a:t>
              </a:r>
            </a:p>
            <a:p>
              <a:r>
                <a:rPr lang="en-US" dirty="0"/>
                <a:t>      older patients. Implementing </a:t>
              </a:r>
              <a:r>
                <a:rPr lang="en-US" b="1" dirty="0"/>
                <a:t>AI-driven embryo selection</a:t>
              </a:r>
              <a:r>
                <a:rPr lang="en-US" dirty="0"/>
                <a:t> </a:t>
              </a:r>
            </a:p>
            <a:p>
              <a:r>
                <a:rPr lang="en-US" dirty="0"/>
                <a:t>      or PGT-A (genetic testing) could bridge this gap and </a:t>
              </a:r>
            </a:p>
            <a:p>
              <a:r>
                <a:rPr lang="en-US" dirty="0"/>
                <a:t>      improve the clinic's overall Success Ratio.</a:t>
              </a:r>
              <a:endParaRPr lang="en-IN" dirty="0"/>
            </a:p>
          </p:txBody>
        </p:sp>
      </p:grpSp>
      <p:sp>
        <p:nvSpPr>
          <p:cNvPr id="14" name="Rectangle 4">
            <a:extLst>
              <a:ext uri="{FF2B5EF4-FFF2-40B4-BE49-F238E27FC236}">
                <a16:creationId xmlns:a16="http://schemas.microsoft.com/office/drawing/2014/main" id="{9E02FCB2-F6BB-EB5F-C7E4-968F543EE3C5}"/>
              </a:ext>
            </a:extLst>
          </p:cNvPr>
          <p:cNvSpPr>
            <a:spLocks noChangeArrowheads="1"/>
          </p:cNvSpPr>
          <p:nvPr/>
        </p:nvSpPr>
        <p:spPr bwMode="auto">
          <a:xfrm>
            <a:off x="630092" y="4145160"/>
            <a:ext cx="5309467"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i="0" u="none" strike="noStrike" cap="none" normalizeH="0" baseline="0" dirty="0">
                <a:ln>
                  <a:noFill/>
                </a:ln>
                <a:solidFill>
                  <a:schemeClr val="tx1"/>
                </a:solidFill>
                <a:effectLst/>
                <a:latin typeface="+mn-lt"/>
              </a:rPr>
              <a:t>Your data shows that cycles lasting 10-12 days of stimulation</a:t>
            </a:r>
          </a:p>
          <a:p>
            <a:pPr marR="0" lvl="0" algn="l" defTabSz="914400" rtl="0" eaLnBrk="0" fontAlgn="base" latinLnBrk="0" hangingPunct="0">
              <a:lnSpc>
                <a:spcPct val="100000"/>
              </a:lnSpc>
              <a:spcBef>
                <a:spcPct val="0"/>
              </a:spcBef>
              <a:spcAft>
                <a:spcPct val="0"/>
              </a:spcAft>
              <a:buClrTx/>
              <a:buSzTx/>
              <a:tabLst/>
            </a:pPr>
            <a:r>
              <a:rPr kumimoji="0" lang="en-US" altLang="en-US" i="0" u="none" strike="noStrike" cap="none" normalizeH="0" baseline="0" dirty="0">
                <a:ln>
                  <a:noFill/>
                </a:ln>
                <a:solidFill>
                  <a:schemeClr val="tx1"/>
                </a:solidFill>
                <a:effectLst/>
                <a:latin typeface="+mn-lt"/>
              </a:rPr>
              <a:t>      have the highest "Good Quality Embryo" rates.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Shape 127"/>
        <p:cNvGrpSpPr/>
        <p:nvPr/>
      </p:nvGrpSpPr>
      <p:grpSpPr>
        <a:xfrm>
          <a:off x="0" y="0"/>
          <a:ext cx="0" cy="0"/>
          <a:chOff x="0" y="0"/>
          <a:chExt cx="0" cy="0"/>
        </a:xfrm>
      </p:grpSpPr>
      <p:sp>
        <p:nvSpPr>
          <p:cNvPr id="128" name="Google Shape;128;p30"/>
          <p:cNvSpPr txBox="1">
            <a:spLocks noGrp="1"/>
          </p:cNvSpPr>
          <p:nvPr>
            <p:ph type="title"/>
          </p:nvPr>
        </p:nvSpPr>
        <p:spPr>
          <a:xfrm>
            <a:off x="228600" y="177790"/>
            <a:ext cx="10515600" cy="535487"/>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2300"/>
              <a:buFont typeface="Georgia"/>
              <a:buNone/>
            </a:pPr>
            <a:r>
              <a:rPr lang="en-US" sz="3200" b="1" dirty="0">
                <a:latin typeface="Times New Roman"/>
                <a:ea typeface="Times New Roman"/>
                <a:cs typeface="Times New Roman"/>
                <a:sym typeface="Times New Roman"/>
              </a:rPr>
              <a:t>Data Preprocessing</a:t>
            </a:r>
            <a:endParaRPr dirty="0"/>
          </a:p>
        </p:txBody>
      </p:sp>
      <p:sp>
        <p:nvSpPr>
          <p:cNvPr id="129" name="Google Shape;129;p30"/>
          <p:cNvSpPr txBox="1"/>
          <p:nvPr/>
        </p:nvSpPr>
        <p:spPr>
          <a:xfrm>
            <a:off x="876300" y="1428750"/>
            <a:ext cx="10972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a:ea typeface="Calibri"/>
              <a:cs typeface="Calibri"/>
              <a:sym typeface="Calibri"/>
            </a:endParaRPr>
          </a:p>
        </p:txBody>
      </p:sp>
      <p:pic>
        <p:nvPicPr>
          <p:cNvPr id="130" name="Google Shape;130;p30" descr="360DigiTMG Reviews - 52 Reviews of 360digitmg.com | Sitejabber"/>
          <p:cNvPicPr preferRelativeResize="0"/>
          <p:nvPr/>
        </p:nvPicPr>
        <p:blipFill rotWithShape="1">
          <a:blip r:embed="rId3">
            <a:alphaModFix/>
          </a:blip>
          <a:srcRect/>
          <a:stretch/>
        </p:blipFill>
        <p:spPr>
          <a:xfrm>
            <a:off x="9751545" y="5952931"/>
            <a:ext cx="2277039" cy="808338"/>
          </a:xfrm>
          <a:prstGeom prst="rect">
            <a:avLst/>
          </a:prstGeom>
          <a:noFill/>
          <a:ln>
            <a:noFill/>
          </a:ln>
        </p:spPr>
      </p:pic>
      <p:sp>
        <p:nvSpPr>
          <p:cNvPr id="8" name="TextBox 7">
            <a:extLst>
              <a:ext uri="{FF2B5EF4-FFF2-40B4-BE49-F238E27FC236}">
                <a16:creationId xmlns:a16="http://schemas.microsoft.com/office/drawing/2014/main" id="{54194750-90C0-07FB-F18C-E09A1143F3F5}"/>
              </a:ext>
            </a:extLst>
          </p:cNvPr>
          <p:cNvSpPr txBox="1"/>
          <p:nvPr/>
        </p:nvSpPr>
        <p:spPr>
          <a:xfrm>
            <a:off x="342901" y="1142768"/>
            <a:ext cx="11685683" cy="5386090"/>
          </a:xfrm>
          <a:prstGeom prst="rect">
            <a:avLst/>
          </a:prstGeom>
          <a:noFill/>
        </p:spPr>
        <p:txBody>
          <a:bodyPr wrap="square">
            <a:spAutoFit/>
          </a:bodyPr>
          <a:lstStyle/>
          <a:p>
            <a:pPr>
              <a:buNone/>
            </a:pPr>
            <a:r>
              <a:rPr lang="en-US" sz="1200" b="1" dirty="0"/>
              <a:t>Stage 1: Data Ingestion (The Sources)</a:t>
            </a:r>
          </a:p>
          <a:p>
            <a:pPr>
              <a:buNone/>
            </a:pPr>
            <a:endParaRPr lang="en-US" sz="1200" dirty="0"/>
          </a:p>
          <a:p>
            <a:pPr>
              <a:buNone/>
            </a:pPr>
            <a:r>
              <a:rPr lang="en-US" sz="1200" dirty="0"/>
              <a:t>We aggregate fragmented data from three primary silos to create a single source of truth.</a:t>
            </a:r>
            <a:endParaRPr lang="en-US" sz="1200" b="1" dirty="0"/>
          </a:p>
          <a:p>
            <a:pPr>
              <a:buFont typeface="Arial" panose="020B0604020202020204" pitchFamily="34" charset="0"/>
              <a:buChar char="•"/>
            </a:pPr>
            <a:r>
              <a:rPr lang="en-US" sz="1200" b="1" dirty="0"/>
              <a:t>EMR Data:</a:t>
            </a:r>
            <a:r>
              <a:rPr lang="en-US" sz="1200" dirty="0"/>
              <a:t> Patient demographics (Age, BMI) and clinical history.</a:t>
            </a:r>
          </a:p>
          <a:p>
            <a:pPr>
              <a:buFont typeface="Arial" panose="020B0604020202020204" pitchFamily="34" charset="0"/>
              <a:buChar char="•"/>
            </a:pPr>
            <a:r>
              <a:rPr lang="en-US" sz="1200" b="1" dirty="0"/>
              <a:t>Lab Information System (LIS):</a:t>
            </a:r>
            <a:r>
              <a:rPr lang="en-US" sz="1200" dirty="0"/>
              <a:t> Daily hormonal markers (E2, P4, LH) from ELISA assays.</a:t>
            </a:r>
          </a:p>
          <a:p>
            <a:pPr>
              <a:buFont typeface="Arial" panose="020B0604020202020204" pitchFamily="34" charset="0"/>
              <a:buChar char="•"/>
            </a:pPr>
            <a:r>
              <a:rPr lang="en-US" sz="1200" b="1" dirty="0"/>
              <a:t>Medication Records:</a:t>
            </a:r>
            <a:r>
              <a:rPr lang="en-US" sz="1200" dirty="0"/>
              <a:t> Daily Gonadotropin (Gn) dosages.</a:t>
            </a:r>
          </a:p>
          <a:p>
            <a:pPr>
              <a:buNone/>
            </a:pPr>
            <a:endParaRPr lang="en-US" sz="1200" b="1" dirty="0"/>
          </a:p>
          <a:p>
            <a:pPr>
              <a:buNone/>
            </a:pPr>
            <a:r>
              <a:rPr lang="en-US" sz="1200" b="1" dirty="0"/>
              <a:t>Stage 2: Data Cleaning &amp; Standardization (The "Refinery")</a:t>
            </a:r>
          </a:p>
          <a:p>
            <a:pPr>
              <a:buNone/>
            </a:pPr>
            <a:endParaRPr lang="en-US" sz="1200" dirty="0"/>
          </a:p>
          <a:p>
            <a:pPr>
              <a:buNone/>
            </a:pPr>
            <a:r>
              <a:rPr lang="en-US" sz="1200" dirty="0"/>
              <a:t>Before analysis, the data undergoes rigorous "Clinical Cleaning":</a:t>
            </a:r>
          </a:p>
          <a:p>
            <a:pPr>
              <a:buFont typeface="Arial" panose="020B0604020202020204" pitchFamily="34" charset="0"/>
              <a:buChar char="•"/>
            </a:pPr>
            <a:r>
              <a:rPr lang="en-US" sz="1200" b="1" dirty="0"/>
              <a:t>Unit Normalization:</a:t>
            </a:r>
            <a:r>
              <a:rPr lang="en-US" sz="1200" dirty="0"/>
              <a:t> Converting all hormone readings to standard units (e.g., pg/ml for E2).</a:t>
            </a:r>
          </a:p>
          <a:p>
            <a:pPr>
              <a:buFont typeface="Arial" panose="020B0604020202020204" pitchFamily="34" charset="0"/>
              <a:buChar char="•"/>
            </a:pPr>
            <a:r>
              <a:rPr lang="en-US" sz="1200" b="1" dirty="0"/>
              <a:t>Handling Nulls:</a:t>
            </a:r>
            <a:r>
              <a:rPr lang="en-US" sz="1200" dirty="0"/>
              <a:t> Using "Forward Fill" for ultrasound data (if a scan was skipped on Day 4, use Day 3 as a    baseline).</a:t>
            </a:r>
          </a:p>
          <a:p>
            <a:pPr>
              <a:buFont typeface="Arial" panose="020B0604020202020204" pitchFamily="34" charset="0"/>
              <a:buChar char="•"/>
            </a:pPr>
            <a:r>
              <a:rPr lang="en-US" sz="1200" b="1" dirty="0"/>
              <a:t>De-duplication:</a:t>
            </a:r>
            <a:r>
              <a:rPr lang="en-US" sz="1200" dirty="0"/>
              <a:t> Ensuring multiple entries for a single </a:t>
            </a:r>
            <a:r>
              <a:rPr lang="en-US" sz="1200" dirty="0">
                <a:latin typeface="Courier New" panose="02070309020205020404" pitchFamily="49" charset="0"/>
              </a:rPr>
              <a:t>Patient_ID</a:t>
            </a:r>
            <a:r>
              <a:rPr lang="en-US" sz="1200" dirty="0"/>
              <a:t> on the same </a:t>
            </a:r>
            <a:r>
              <a:rPr lang="en-US" sz="1200" dirty="0">
                <a:latin typeface="Courier New" panose="02070309020205020404" pitchFamily="49" charset="0"/>
              </a:rPr>
              <a:t>Cycle_Day</a:t>
            </a:r>
            <a:r>
              <a:rPr lang="en-US" sz="1200" dirty="0"/>
              <a:t> are merged.</a:t>
            </a:r>
          </a:p>
          <a:p>
            <a:pPr>
              <a:buFont typeface="Arial" panose="020B0604020202020204" pitchFamily="34" charset="0"/>
              <a:buChar char="•"/>
            </a:pPr>
            <a:r>
              <a:rPr lang="en-US" sz="1200" b="1" dirty="0"/>
              <a:t>Outlier Detection:</a:t>
            </a:r>
            <a:r>
              <a:rPr lang="en-US" sz="1200" dirty="0"/>
              <a:t> Flagging "impossible" values (e.g., E2 &gt; 20,000 pg/ml) for manual review.</a:t>
            </a:r>
          </a:p>
          <a:p>
            <a:pPr>
              <a:buNone/>
            </a:pPr>
            <a:endParaRPr lang="en-US" sz="1200" b="1" dirty="0"/>
          </a:p>
          <a:p>
            <a:pPr>
              <a:buNone/>
            </a:pPr>
            <a:r>
              <a:rPr lang="en-US" sz="1200" b="1" dirty="0"/>
              <a:t>Stage 3: Feature Engineering (The "Intelligence" Layer)</a:t>
            </a:r>
          </a:p>
          <a:p>
            <a:pPr>
              <a:buNone/>
            </a:pPr>
            <a:endParaRPr lang="en-US" sz="1200" dirty="0"/>
          </a:p>
          <a:p>
            <a:pPr>
              <a:buNone/>
            </a:pPr>
            <a:r>
              <a:rPr lang="en-US" sz="1200" dirty="0"/>
              <a:t>This is where we create the "Early Outcome" metrics that don't exist in raw reports:</a:t>
            </a:r>
            <a:endParaRPr lang="en-US" sz="1200" b="1" dirty="0"/>
          </a:p>
          <a:p>
            <a:pPr>
              <a:buFont typeface="Arial" panose="020B0604020202020204" pitchFamily="34" charset="0"/>
              <a:buChar char="•"/>
            </a:pPr>
            <a:r>
              <a:rPr lang="en-US" sz="1200" b="1" dirty="0"/>
              <a:t>Hormonal Velocity:</a:t>
            </a:r>
            <a:r>
              <a:rPr lang="en-US" sz="1200" dirty="0"/>
              <a:t> Calculating the 24-hour and 48-hour % change in Estradiol (E2).</a:t>
            </a:r>
          </a:p>
          <a:p>
            <a:pPr>
              <a:buFont typeface="Arial" panose="020B0604020202020204" pitchFamily="34" charset="0"/>
              <a:buChar char="•"/>
            </a:pPr>
            <a:r>
              <a:rPr lang="en-US" sz="1200" b="1" dirty="0"/>
              <a:t>Follicle Growth Rate:</a:t>
            </a:r>
            <a:r>
              <a:rPr lang="en-US" sz="1200" dirty="0"/>
              <a:t> Tracking the mm/day increase of the leading 3 follicles.</a:t>
            </a:r>
          </a:p>
          <a:p>
            <a:pPr>
              <a:buFont typeface="Arial" panose="020B0604020202020204" pitchFamily="34" charset="0"/>
              <a:buChar char="•"/>
            </a:pPr>
            <a:r>
              <a:rPr lang="en-US" sz="1200" b="1" dirty="0"/>
              <a:t>Dose-Response Ratio:</a:t>
            </a:r>
            <a:r>
              <a:rPr lang="en-US" sz="1200" dirty="0"/>
              <a:t> Measuring how many follicles are recruited per 100 IU of medication.</a:t>
            </a:r>
          </a:p>
          <a:p>
            <a:pPr>
              <a:buFont typeface="Arial" panose="020B0604020202020204" pitchFamily="34" charset="0"/>
              <a:buChar char="•"/>
            </a:pPr>
            <a:r>
              <a:rPr lang="en-US" sz="1200" b="1" dirty="0"/>
              <a:t>Risk Scoring:</a:t>
            </a:r>
            <a:r>
              <a:rPr lang="en-US" sz="1200" dirty="0"/>
              <a:t> Running a weighted algorithm to assign a </a:t>
            </a:r>
            <a:r>
              <a:rPr lang="en-US" sz="1200" b="1" dirty="0"/>
              <a:t>High/Medium/Low</a:t>
            </a:r>
            <a:r>
              <a:rPr lang="en-US" sz="1200" dirty="0"/>
              <a:t> risk status.</a:t>
            </a:r>
          </a:p>
          <a:p>
            <a:pPr>
              <a:buNone/>
            </a:pPr>
            <a:endParaRPr lang="en-US" sz="1200" b="1" dirty="0"/>
          </a:p>
          <a:p>
            <a:pPr>
              <a:buNone/>
            </a:pPr>
            <a:r>
              <a:rPr lang="en-US" sz="1200" b="1" dirty="0"/>
              <a:t>Stage 4: Data Consumption (The "Dashboard")</a:t>
            </a:r>
          </a:p>
          <a:p>
            <a:pPr>
              <a:buNone/>
            </a:pPr>
            <a:endParaRPr lang="en-US" sz="1200" dirty="0"/>
          </a:p>
          <a:p>
            <a:pPr>
              <a:buNone/>
            </a:pPr>
            <a:r>
              <a:rPr lang="en-US" sz="1200" dirty="0"/>
              <a:t>The processed data is pushed to the near real-time visualization layer:</a:t>
            </a:r>
            <a:endParaRPr lang="en-US" sz="1200" b="1" dirty="0"/>
          </a:p>
          <a:p>
            <a:pPr>
              <a:buFont typeface="Arial" panose="020B0604020202020204" pitchFamily="34" charset="0"/>
              <a:buChar char="•"/>
            </a:pPr>
            <a:r>
              <a:rPr lang="en-US" sz="1200" b="1" dirty="0"/>
              <a:t>API/Push:</a:t>
            </a:r>
            <a:r>
              <a:rPr lang="en-US" sz="1200" dirty="0"/>
              <a:t> Data refreshes every 4–6 hours (near real-time).</a:t>
            </a:r>
          </a:p>
          <a:p>
            <a:pPr>
              <a:buFont typeface="Arial" panose="020B0604020202020204" pitchFamily="34" charset="0"/>
              <a:buChar char="•"/>
            </a:pPr>
            <a:r>
              <a:rPr lang="en-US" sz="1200" b="1" dirty="0"/>
              <a:t>Visual Output:</a:t>
            </a:r>
            <a:r>
              <a:rPr lang="en-US" sz="1200" dirty="0"/>
              <a:t> Trend lines, Gauge charts (for success rates), and Red-Flag alerts.</a:t>
            </a:r>
          </a:p>
        </p:txBody>
      </p:sp>
      <p:pic>
        <p:nvPicPr>
          <p:cNvPr id="6146" name="Picture 2" descr="embryo grown in an IVF embryology lab">
            <a:extLst>
              <a:ext uri="{FF2B5EF4-FFF2-40B4-BE49-F238E27FC236}">
                <a16:creationId xmlns:a16="http://schemas.microsoft.com/office/drawing/2014/main" id="{5E7B37CC-2499-BED2-5490-1E0FC62FF8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98707" y="957412"/>
            <a:ext cx="2852838" cy="1898434"/>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pic>
        <p:nvPicPr>
          <p:cNvPr id="6148" name="Picture 4" descr="DATA PREPROCESSING TECHNIQUES. Data ...">
            <a:extLst>
              <a:ext uri="{FF2B5EF4-FFF2-40B4-BE49-F238E27FC236}">
                <a16:creationId xmlns:a16="http://schemas.microsoft.com/office/drawing/2014/main" id="{75515CE8-8A0E-768F-3B98-D2BC11869A0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74225" y="4147637"/>
            <a:ext cx="2699498" cy="1640320"/>
          </a:xfrm>
          <a:prstGeom prst="rect">
            <a:avLst/>
          </a:prstGeom>
          <a:noFill/>
          <a:effectLst>
            <a:softEdge rad="101600"/>
          </a:effectLst>
          <a:extLst>
            <a:ext uri="{909E8E84-426E-40DD-AFC4-6F175D3DCCD1}">
              <a14:hiddenFill xmlns:a14="http://schemas.microsoft.com/office/drawing/2010/main">
                <a:solidFill>
                  <a:srgbClr val="FFFFFF"/>
                </a:solidFill>
              </a14:hiddenFill>
            </a:ext>
          </a:extLst>
        </p:spPr>
      </p:pic>
      <p:pic>
        <p:nvPicPr>
          <p:cNvPr id="6150" name="Picture 6" descr="Trendy Data Processing 43229348 Vector ...">
            <a:extLst>
              <a:ext uri="{FF2B5EF4-FFF2-40B4-BE49-F238E27FC236}">
                <a16:creationId xmlns:a16="http://schemas.microsoft.com/office/drawing/2014/main" id="{4F582377-B3C2-4D7A-35A9-363F9C8306D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31941" y="2258442"/>
            <a:ext cx="2190590" cy="2578816"/>
          </a:xfrm>
          <a:prstGeom prst="rect">
            <a:avLst/>
          </a:prstGeom>
          <a:noFill/>
          <a:effectLst>
            <a:softEdge rad="1397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Shape 135"/>
        <p:cNvGrpSpPr/>
        <p:nvPr/>
      </p:nvGrpSpPr>
      <p:grpSpPr>
        <a:xfrm>
          <a:off x="0" y="0"/>
          <a:ext cx="0" cy="0"/>
          <a:chOff x="0" y="0"/>
          <a:chExt cx="0" cy="0"/>
        </a:xfrm>
      </p:grpSpPr>
      <p:sp>
        <p:nvSpPr>
          <p:cNvPr id="136" name="Google Shape;136;p32"/>
          <p:cNvSpPr txBox="1">
            <a:spLocks noGrp="1"/>
          </p:cNvSpPr>
          <p:nvPr>
            <p:ph type="title"/>
          </p:nvPr>
        </p:nvSpPr>
        <p:spPr>
          <a:xfrm>
            <a:off x="228600" y="177790"/>
            <a:ext cx="10515600" cy="535487"/>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2300"/>
              <a:buFont typeface="Georgia"/>
              <a:buNone/>
            </a:pPr>
            <a:r>
              <a:rPr lang="en-US" sz="3200" b="1" dirty="0">
                <a:latin typeface="Times New Roman"/>
                <a:ea typeface="Times New Roman"/>
                <a:cs typeface="Times New Roman"/>
                <a:sym typeface="Times New Roman"/>
              </a:rPr>
              <a:t>Data Visualization </a:t>
            </a:r>
            <a:endParaRPr dirty="0"/>
          </a:p>
        </p:txBody>
      </p:sp>
      <p:sp>
        <p:nvSpPr>
          <p:cNvPr id="137" name="Google Shape;137;p32"/>
          <p:cNvSpPr txBox="1"/>
          <p:nvPr/>
        </p:nvSpPr>
        <p:spPr>
          <a:xfrm>
            <a:off x="666750" y="1352550"/>
            <a:ext cx="10972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a:ea typeface="Calibri"/>
              <a:cs typeface="Calibri"/>
              <a:sym typeface="Calibri"/>
            </a:endParaRPr>
          </a:p>
        </p:txBody>
      </p:sp>
      <p:sp>
        <p:nvSpPr>
          <p:cNvPr id="138" name="Google Shape;138;p32"/>
          <p:cNvSpPr txBox="1"/>
          <p:nvPr/>
        </p:nvSpPr>
        <p:spPr>
          <a:xfrm>
            <a:off x="287350" y="1245175"/>
            <a:ext cx="11034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a:ea typeface="Calibri"/>
              <a:cs typeface="Calibri"/>
              <a:sym typeface="Calibri"/>
            </a:endParaRPr>
          </a:p>
        </p:txBody>
      </p:sp>
      <p:pic>
        <p:nvPicPr>
          <p:cNvPr id="139" name="Google Shape;139;p32" descr="360DigiTMG Reviews - 52 Reviews of 360digitmg.com | Sitejabber"/>
          <p:cNvPicPr preferRelativeResize="0"/>
          <p:nvPr/>
        </p:nvPicPr>
        <p:blipFill rotWithShape="1">
          <a:blip r:embed="rId3">
            <a:alphaModFix/>
          </a:blip>
          <a:srcRect/>
          <a:stretch/>
        </p:blipFill>
        <p:spPr>
          <a:xfrm>
            <a:off x="9751545" y="5952931"/>
            <a:ext cx="2277039" cy="808338"/>
          </a:xfrm>
          <a:prstGeom prst="rect">
            <a:avLst/>
          </a:prstGeom>
          <a:noFill/>
          <a:ln>
            <a:noFill/>
          </a:ln>
        </p:spPr>
      </p:pic>
      <p:pic>
        <p:nvPicPr>
          <p:cNvPr id="5" name="Picture 4">
            <a:extLst>
              <a:ext uri="{FF2B5EF4-FFF2-40B4-BE49-F238E27FC236}">
                <a16:creationId xmlns:a16="http://schemas.microsoft.com/office/drawing/2014/main" id="{F37EA832-A1E4-3C8A-ABFE-334FEFF896F0}"/>
              </a:ext>
            </a:extLst>
          </p:cNvPr>
          <p:cNvPicPr>
            <a:picLocks noChangeAspect="1"/>
          </p:cNvPicPr>
          <p:nvPr/>
        </p:nvPicPr>
        <p:blipFill>
          <a:blip r:embed="rId4"/>
          <a:stretch>
            <a:fillRect/>
          </a:stretch>
        </p:blipFill>
        <p:spPr>
          <a:xfrm>
            <a:off x="638963" y="1024562"/>
            <a:ext cx="9564373" cy="485094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Shape 135">
          <a:extLst>
            <a:ext uri="{FF2B5EF4-FFF2-40B4-BE49-F238E27FC236}">
              <a16:creationId xmlns:a16="http://schemas.microsoft.com/office/drawing/2014/main" id="{FD8AAE7A-D589-31D8-A6FF-3CCD21AE8965}"/>
            </a:ext>
          </a:extLst>
        </p:cNvPr>
        <p:cNvGrpSpPr/>
        <p:nvPr/>
      </p:nvGrpSpPr>
      <p:grpSpPr>
        <a:xfrm>
          <a:off x="0" y="0"/>
          <a:ext cx="0" cy="0"/>
          <a:chOff x="0" y="0"/>
          <a:chExt cx="0" cy="0"/>
        </a:xfrm>
      </p:grpSpPr>
      <p:sp>
        <p:nvSpPr>
          <p:cNvPr id="136" name="Google Shape;136;p32">
            <a:extLst>
              <a:ext uri="{FF2B5EF4-FFF2-40B4-BE49-F238E27FC236}">
                <a16:creationId xmlns:a16="http://schemas.microsoft.com/office/drawing/2014/main" id="{5EABFB6E-E7DE-B44B-940F-34FF5BF2FF30}"/>
              </a:ext>
            </a:extLst>
          </p:cNvPr>
          <p:cNvSpPr txBox="1">
            <a:spLocks noGrp="1"/>
          </p:cNvSpPr>
          <p:nvPr>
            <p:ph type="title"/>
          </p:nvPr>
        </p:nvSpPr>
        <p:spPr>
          <a:xfrm>
            <a:off x="228600" y="177790"/>
            <a:ext cx="10515600" cy="535487"/>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2300"/>
              <a:buFont typeface="Georgia"/>
              <a:buNone/>
            </a:pPr>
            <a:r>
              <a:rPr lang="en-US" sz="3200" b="1" dirty="0">
                <a:latin typeface="Times New Roman"/>
                <a:ea typeface="Times New Roman"/>
                <a:cs typeface="Times New Roman"/>
                <a:sym typeface="Times New Roman"/>
              </a:rPr>
              <a:t>Data Visualization </a:t>
            </a:r>
            <a:endParaRPr dirty="0"/>
          </a:p>
        </p:txBody>
      </p:sp>
      <p:sp>
        <p:nvSpPr>
          <p:cNvPr id="137" name="Google Shape;137;p32">
            <a:extLst>
              <a:ext uri="{FF2B5EF4-FFF2-40B4-BE49-F238E27FC236}">
                <a16:creationId xmlns:a16="http://schemas.microsoft.com/office/drawing/2014/main" id="{F8330324-7D33-3ECF-1FC8-B8A5D4EBD9CF}"/>
              </a:ext>
            </a:extLst>
          </p:cNvPr>
          <p:cNvSpPr txBox="1"/>
          <p:nvPr/>
        </p:nvSpPr>
        <p:spPr>
          <a:xfrm>
            <a:off x="666750" y="1352550"/>
            <a:ext cx="10972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a:ea typeface="Calibri"/>
              <a:cs typeface="Calibri"/>
              <a:sym typeface="Calibri"/>
            </a:endParaRPr>
          </a:p>
        </p:txBody>
      </p:sp>
      <p:sp>
        <p:nvSpPr>
          <p:cNvPr id="138" name="Google Shape;138;p32">
            <a:extLst>
              <a:ext uri="{FF2B5EF4-FFF2-40B4-BE49-F238E27FC236}">
                <a16:creationId xmlns:a16="http://schemas.microsoft.com/office/drawing/2014/main" id="{6684C9A6-A5BB-011E-D4F9-72B8EF7C8AAC}"/>
              </a:ext>
            </a:extLst>
          </p:cNvPr>
          <p:cNvSpPr txBox="1"/>
          <p:nvPr/>
        </p:nvSpPr>
        <p:spPr>
          <a:xfrm>
            <a:off x="287350" y="1245175"/>
            <a:ext cx="11034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a:ea typeface="Calibri"/>
              <a:cs typeface="Calibri"/>
              <a:sym typeface="Calibri"/>
            </a:endParaRPr>
          </a:p>
        </p:txBody>
      </p:sp>
      <p:pic>
        <p:nvPicPr>
          <p:cNvPr id="139" name="Google Shape;139;p32" descr="360DigiTMG Reviews - 52 Reviews of 360digitmg.com | Sitejabber">
            <a:extLst>
              <a:ext uri="{FF2B5EF4-FFF2-40B4-BE49-F238E27FC236}">
                <a16:creationId xmlns:a16="http://schemas.microsoft.com/office/drawing/2014/main" id="{8BE03CA6-A204-9938-B05B-0D52F15E89B4}"/>
              </a:ext>
            </a:extLst>
          </p:cNvPr>
          <p:cNvPicPr preferRelativeResize="0"/>
          <p:nvPr/>
        </p:nvPicPr>
        <p:blipFill rotWithShape="1">
          <a:blip r:embed="rId3">
            <a:alphaModFix/>
          </a:blip>
          <a:srcRect/>
          <a:stretch/>
        </p:blipFill>
        <p:spPr>
          <a:xfrm>
            <a:off x="9751545" y="5952931"/>
            <a:ext cx="2277039" cy="808338"/>
          </a:xfrm>
          <a:prstGeom prst="rect">
            <a:avLst/>
          </a:prstGeom>
          <a:noFill/>
          <a:ln>
            <a:noFill/>
          </a:ln>
        </p:spPr>
      </p:pic>
      <p:pic>
        <p:nvPicPr>
          <p:cNvPr id="3" name="Picture 2">
            <a:extLst>
              <a:ext uri="{FF2B5EF4-FFF2-40B4-BE49-F238E27FC236}">
                <a16:creationId xmlns:a16="http://schemas.microsoft.com/office/drawing/2014/main" id="{7701424A-3542-7F7F-EEF1-82B4840E09F0}"/>
              </a:ext>
            </a:extLst>
          </p:cNvPr>
          <p:cNvPicPr>
            <a:picLocks noChangeAspect="1"/>
          </p:cNvPicPr>
          <p:nvPr/>
        </p:nvPicPr>
        <p:blipFill>
          <a:blip r:embed="rId4"/>
          <a:stretch>
            <a:fillRect/>
          </a:stretch>
        </p:blipFill>
        <p:spPr>
          <a:xfrm>
            <a:off x="666750" y="998833"/>
            <a:ext cx="9607666" cy="4717682"/>
          </a:xfrm>
          <a:prstGeom prst="rect">
            <a:avLst/>
          </a:prstGeom>
        </p:spPr>
      </p:pic>
    </p:spTree>
    <p:extLst>
      <p:ext uri="{BB962C8B-B14F-4D97-AF65-F5344CB8AC3E}">
        <p14:creationId xmlns:p14="http://schemas.microsoft.com/office/powerpoint/2010/main" val="37913285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Shape 135">
          <a:extLst>
            <a:ext uri="{FF2B5EF4-FFF2-40B4-BE49-F238E27FC236}">
              <a16:creationId xmlns:a16="http://schemas.microsoft.com/office/drawing/2014/main" id="{BC194076-B3EC-8571-3B14-48F2208A998B}"/>
            </a:ext>
          </a:extLst>
        </p:cNvPr>
        <p:cNvGrpSpPr/>
        <p:nvPr/>
      </p:nvGrpSpPr>
      <p:grpSpPr>
        <a:xfrm>
          <a:off x="0" y="0"/>
          <a:ext cx="0" cy="0"/>
          <a:chOff x="0" y="0"/>
          <a:chExt cx="0" cy="0"/>
        </a:xfrm>
      </p:grpSpPr>
      <p:sp>
        <p:nvSpPr>
          <p:cNvPr id="136" name="Google Shape;136;p32">
            <a:extLst>
              <a:ext uri="{FF2B5EF4-FFF2-40B4-BE49-F238E27FC236}">
                <a16:creationId xmlns:a16="http://schemas.microsoft.com/office/drawing/2014/main" id="{ED2C4FF9-4831-5404-04A7-755026D10687}"/>
              </a:ext>
            </a:extLst>
          </p:cNvPr>
          <p:cNvSpPr txBox="1">
            <a:spLocks noGrp="1"/>
          </p:cNvSpPr>
          <p:nvPr>
            <p:ph type="title"/>
          </p:nvPr>
        </p:nvSpPr>
        <p:spPr>
          <a:xfrm>
            <a:off x="228600" y="177790"/>
            <a:ext cx="10515600" cy="535487"/>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2300"/>
              <a:buFont typeface="Georgia"/>
              <a:buNone/>
            </a:pPr>
            <a:r>
              <a:rPr lang="en-US" sz="3200" b="1" dirty="0">
                <a:latin typeface="Times New Roman"/>
                <a:ea typeface="Times New Roman"/>
                <a:cs typeface="Times New Roman"/>
                <a:sym typeface="Times New Roman"/>
              </a:rPr>
              <a:t>Data Visualization </a:t>
            </a:r>
            <a:endParaRPr dirty="0"/>
          </a:p>
        </p:txBody>
      </p:sp>
      <p:sp>
        <p:nvSpPr>
          <p:cNvPr id="137" name="Google Shape;137;p32">
            <a:extLst>
              <a:ext uri="{FF2B5EF4-FFF2-40B4-BE49-F238E27FC236}">
                <a16:creationId xmlns:a16="http://schemas.microsoft.com/office/drawing/2014/main" id="{C88F2F9A-3E08-3707-0D91-A5176A9C44CD}"/>
              </a:ext>
            </a:extLst>
          </p:cNvPr>
          <p:cNvSpPr txBox="1"/>
          <p:nvPr/>
        </p:nvSpPr>
        <p:spPr>
          <a:xfrm>
            <a:off x="666750" y="1352550"/>
            <a:ext cx="10972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a:ea typeface="Calibri"/>
              <a:cs typeface="Calibri"/>
              <a:sym typeface="Calibri"/>
            </a:endParaRPr>
          </a:p>
        </p:txBody>
      </p:sp>
      <p:sp>
        <p:nvSpPr>
          <p:cNvPr id="138" name="Google Shape;138;p32">
            <a:extLst>
              <a:ext uri="{FF2B5EF4-FFF2-40B4-BE49-F238E27FC236}">
                <a16:creationId xmlns:a16="http://schemas.microsoft.com/office/drawing/2014/main" id="{0047929D-DE59-4A03-90A9-D0950F8E4B7D}"/>
              </a:ext>
            </a:extLst>
          </p:cNvPr>
          <p:cNvSpPr txBox="1"/>
          <p:nvPr/>
        </p:nvSpPr>
        <p:spPr>
          <a:xfrm>
            <a:off x="287350" y="1245175"/>
            <a:ext cx="11034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a:ea typeface="Calibri"/>
              <a:cs typeface="Calibri"/>
              <a:sym typeface="Calibri"/>
            </a:endParaRPr>
          </a:p>
        </p:txBody>
      </p:sp>
      <p:pic>
        <p:nvPicPr>
          <p:cNvPr id="139" name="Google Shape;139;p32" descr="360DigiTMG Reviews - 52 Reviews of 360digitmg.com | Sitejabber">
            <a:extLst>
              <a:ext uri="{FF2B5EF4-FFF2-40B4-BE49-F238E27FC236}">
                <a16:creationId xmlns:a16="http://schemas.microsoft.com/office/drawing/2014/main" id="{16FF3C11-7B74-2905-6939-7AFCD44FAACB}"/>
              </a:ext>
            </a:extLst>
          </p:cNvPr>
          <p:cNvPicPr preferRelativeResize="0"/>
          <p:nvPr/>
        </p:nvPicPr>
        <p:blipFill rotWithShape="1">
          <a:blip r:embed="rId3">
            <a:alphaModFix/>
          </a:blip>
          <a:srcRect/>
          <a:stretch/>
        </p:blipFill>
        <p:spPr>
          <a:xfrm>
            <a:off x="9751545" y="5952931"/>
            <a:ext cx="2277039" cy="808338"/>
          </a:xfrm>
          <a:prstGeom prst="rect">
            <a:avLst/>
          </a:prstGeom>
          <a:noFill/>
          <a:ln>
            <a:noFill/>
          </a:ln>
        </p:spPr>
      </p:pic>
      <p:pic>
        <p:nvPicPr>
          <p:cNvPr id="4" name="Picture 3">
            <a:extLst>
              <a:ext uri="{FF2B5EF4-FFF2-40B4-BE49-F238E27FC236}">
                <a16:creationId xmlns:a16="http://schemas.microsoft.com/office/drawing/2014/main" id="{03C04200-29D5-6CAE-CCFA-02D59FB94A17}"/>
              </a:ext>
            </a:extLst>
          </p:cNvPr>
          <p:cNvPicPr>
            <a:picLocks noChangeAspect="1"/>
          </p:cNvPicPr>
          <p:nvPr/>
        </p:nvPicPr>
        <p:blipFill>
          <a:blip r:embed="rId4"/>
          <a:stretch>
            <a:fillRect/>
          </a:stretch>
        </p:blipFill>
        <p:spPr>
          <a:xfrm>
            <a:off x="682567" y="1070159"/>
            <a:ext cx="9607666" cy="4717682"/>
          </a:xfrm>
          <a:prstGeom prst="rect">
            <a:avLst/>
          </a:prstGeom>
        </p:spPr>
      </p:pic>
    </p:spTree>
    <p:extLst>
      <p:ext uri="{BB962C8B-B14F-4D97-AF65-F5344CB8AC3E}">
        <p14:creationId xmlns:p14="http://schemas.microsoft.com/office/powerpoint/2010/main" val="2219612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Shape 143"/>
        <p:cNvGrpSpPr/>
        <p:nvPr/>
      </p:nvGrpSpPr>
      <p:grpSpPr>
        <a:xfrm>
          <a:off x="0" y="0"/>
          <a:ext cx="0" cy="0"/>
          <a:chOff x="0" y="0"/>
          <a:chExt cx="0" cy="0"/>
        </a:xfrm>
      </p:grpSpPr>
      <p:cxnSp>
        <p:nvCxnSpPr>
          <p:cNvPr id="144" name="Google Shape;144;p60"/>
          <p:cNvCxnSpPr/>
          <p:nvPr/>
        </p:nvCxnSpPr>
        <p:spPr>
          <a:xfrm>
            <a:off x="0" y="6464596"/>
            <a:ext cx="9597656" cy="0"/>
          </a:xfrm>
          <a:prstGeom prst="straightConnector1">
            <a:avLst/>
          </a:prstGeom>
          <a:noFill/>
          <a:ln w="9525" cap="flat" cmpd="sng">
            <a:solidFill>
              <a:srgbClr val="3B7FF2"/>
            </a:solidFill>
            <a:prstDash val="solid"/>
            <a:round/>
            <a:headEnd type="none" w="sm" len="sm"/>
            <a:tailEnd type="none" w="sm" len="sm"/>
          </a:ln>
        </p:spPr>
      </p:cxnSp>
      <p:pic>
        <p:nvPicPr>
          <p:cNvPr id="145" name="Google Shape;145;p60" descr="Attitudes 2 Animal Cognition Survey – The Anthrozoologist"/>
          <p:cNvPicPr preferRelativeResize="0"/>
          <p:nvPr/>
        </p:nvPicPr>
        <p:blipFill rotWithShape="1">
          <a:blip r:embed="rId3">
            <a:alphaModFix/>
            <a:extLst>
              <a:ext uri="{BEBA8EAE-BF5A-486C-A8C5-ECC9F3942E4B}">
                <a14:imgProps xmlns:a14="http://schemas.microsoft.com/office/drawing/2010/main">
                  <a14:imgLayer r:embed="rId4">
                    <a14:imgEffect>
                      <a14:colorTemperature colorTemp="3563"/>
                    </a14:imgEffect>
                    <a14:imgEffect>
                      <a14:saturation sat="400000"/>
                    </a14:imgEffect>
                  </a14:imgLayer>
                </a14:imgProps>
              </a:ext>
            </a:extLst>
          </a:blip>
          <a:srcRect/>
          <a:stretch/>
        </p:blipFill>
        <p:spPr>
          <a:xfrm>
            <a:off x="3110415" y="272435"/>
            <a:ext cx="5971172" cy="5971172"/>
          </a:xfrm>
          <a:prstGeom prst="rect">
            <a:avLst/>
          </a:prstGeom>
          <a:noFill/>
          <a:ln>
            <a:noFill/>
          </a:ln>
          <a:effectLst>
            <a:glow rad="127000">
              <a:schemeClr val="accent1">
                <a:lumMod val="40000"/>
                <a:lumOff val="60000"/>
              </a:schemeClr>
            </a:glow>
          </a:effectLst>
        </p:spPr>
      </p:pic>
      <p:pic>
        <p:nvPicPr>
          <p:cNvPr id="146" name="Google Shape;146;p60" descr="360DigiTMG Reviews - 52 Reviews of 360digitmg.com | Sitejabber"/>
          <p:cNvPicPr preferRelativeResize="0"/>
          <p:nvPr/>
        </p:nvPicPr>
        <p:blipFill rotWithShape="1">
          <a:blip r:embed="rId5">
            <a:alphaModFix/>
          </a:blip>
          <a:srcRect/>
          <a:stretch/>
        </p:blipFill>
        <p:spPr>
          <a:xfrm>
            <a:off x="9723552" y="5952931"/>
            <a:ext cx="2277039" cy="808338"/>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242</TotalTime>
  <Words>1344</Words>
  <Application>Microsoft Office PowerPoint</Application>
  <PresentationFormat>Widescreen</PresentationFormat>
  <Paragraphs>167</Paragraphs>
  <Slides>11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Courier New</vt:lpstr>
      <vt:lpstr>Georgia</vt:lpstr>
      <vt:lpstr>Times New Roman</vt:lpstr>
      <vt:lpstr>Wingdings</vt:lpstr>
      <vt:lpstr>Office Theme</vt:lpstr>
      <vt:lpstr>IVF-Analysis: A Data-Driven Early Outcome Risk Intelligence System</vt:lpstr>
      <vt:lpstr>Contents</vt:lpstr>
      <vt:lpstr>Business Problem</vt:lpstr>
      <vt:lpstr>Project Overview and Scope</vt:lpstr>
      <vt:lpstr>Data Dictionary </vt:lpstr>
      <vt:lpstr>Exploratory Data Analysis [EDA]</vt:lpstr>
      <vt:lpstr>Data Preprocessing</vt:lpstr>
      <vt:lpstr>Data Visualization </vt:lpstr>
      <vt:lpstr>Data Visualization </vt:lpstr>
      <vt:lpstr>Data Visualization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VIKAS BARTHWAL</dc:creator>
  <cp:lastModifiedBy>Hridik Narang</cp:lastModifiedBy>
  <cp:revision>2</cp:revision>
  <dcterms:created xsi:type="dcterms:W3CDTF">2022-02-16T01:47:29Z</dcterms:created>
  <dcterms:modified xsi:type="dcterms:W3CDTF">2026-03-07T19:32:55Z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49deba9595b64033890e84905b5c3bc0</vt:lpwstr>
  </property>
</Properties>
</file>